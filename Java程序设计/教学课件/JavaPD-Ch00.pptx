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ebp" ContentType="image/webp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31"/>
  </p:notesMasterIdLst>
  <p:handoutMasterIdLst>
    <p:handoutMasterId r:id="rId32"/>
  </p:handoutMasterIdLst>
  <p:sldIdLst>
    <p:sldId id="256" r:id="rId3"/>
    <p:sldId id="280" r:id="rId4"/>
    <p:sldId id="281" r:id="rId5"/>
    <p:sldId id="300" r:id="rId6"/>
    <p:sldId id="285" r:id="rId7"/>
    <p:sldId id="289" r:id="rId8"/>
    <p:sldId id="301" r:id="rId9"/>
    <p:sldId id="282" r:id="rId10"/>
    <p:sldId id="290" r:id="rId11"/>
    <p:sldId id="283" r:id="rId12"/>
    <p:sldId id="292" r:id="rId13"/>
    <p:sldId id="298" r:id="rId14"/>
    <p:sldId id="286" r:id="rId15"/>
    <p:sldId id="293" r:id="rId16"/>
    <p:sldId id="294" r:id="rId17"/>
    <p:sldId id="295" r:id="rId18"/>
    <p:sldId id="296" r:id="rId19"/>
    <p:sldId id="297" r:id="rId20"/>
    <p:sldId id="287" r:id="rId21"/>
    <p:sldId id="284" r:id="rId22"/>
    <p:sldId id="302" r:id="rId23"/>
    <p:sldId id="291" r:id="rId24"/>
    <p:sldId id="275" r:id="rId25"/>
    <p:sldId id="276" r:id="rId26"/>
    <p:sldId id="277" r:id="rId27"/>
    <p:sldId id="279" r:id="rId28"/>
    <p:sldId id="278" r:id="rId29"/>
    <p:sldId id="274" r:id="rId30"/>
  </p:sldIdLst>
  <p:sldSz cx="9144000" cy="6858000" type="screen4x3"/>
  <p:notesSz cx="6669088" cy="99266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170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handoutMaster" Target="handoutMasters/handoutMaster1.xml"/><Relationship Id="rId37" Type="http://schemas.microsoft.com/office/2016/11/relationships/changesInfo" Target="changesInfos/changesInfo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theme" Target="theme/theme1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n Weike" userId="f48425db970607a4" providerId="LiveId" clId="{FAF3A6CF-1F6C-45EB-82E8-CD84AF97E2B2}"/>
    <pc:docChg chg="undo custSel addSld delSld modSld">
      <pc:chgData name="Pan Weike" userId="f48425db970607a4" providerId="LiveId" clId="{FAF3A6CF-1F6C-45EB-82E8-CD84AF97E2B2}" dt="2020-09-11T13:23:00.404" v="483" actId="478"/>
      <pc:docMkLst>
        <pc:docMk/>
      </pc:docMkLst>
      <pc:sldChg chg="modSp mod">
        <pc:chgData name="Pan Weike" userId="f48425db970607a4" providerId="LiveId" clId="{FAF3A6CF-1F6C-45EB-82E8-CD84AF97E2B2}" dt="2020-09-05T13:33:40.310" v="343" actId="20577"/>
        <pc:sldMkLst>
          <pc:docMk/>
          <pc:sldMk cId="812029711" sldId="275"/>
        </pc:sldMkLst>
        <pc:spChg chg="mod">
          <ac:chgData name="Pan Weike" userId="f48425db970607a4" providerId="LiveId" clId="{FAF3A6CF-1F6C-45EB-82E8-CD84AF97E2B2}" dt="2020-09-05T13:33:40.310" v="343" actId="20577"/>
          <ac:spMkLst>
            <pc:docMk/>
            <pc:sldMk cId="812029711" sldId="275"/>
            <ac:spMk id="3" creationId="{00000000-0000-0000-0000-000000000000}"/>
          </ac:spMkLst>
        </pc:spChg>
      </pc:sldChg>
      <pc:sldChg chg="addSp delSp modSp mod">
        <pc:chgData name="Pan Weike" userId="f48425db970607a4" providerId="LiveId" clId="{FAF3A6CF-1F6C-45EB-82E8-CD84AF97E2B2}" dt="2020-09-11T13:13:57.101" v="451" actId="13926"/>
        <pc:sldMkLst>
          <pc:docMk/>
          <pc:sldMk cId="4259365513" sldId="280"/>
        </pc:sldMkLst>
        <pc:spChg chg="mod">
          <ac:chgData name="Pan Weike" userId="f48425db970607a4" providerId="LiveId" clId="{FAF3A6CF-1F6C-45EB-82E8-CD84AF97E2B2}" dt="2020-09-11T13:13:57.101" v="451" actId="13926"/>
          <ac:spMkLst>
            <pc:docMk/>
            <pc:sldMk cId="4259365513" sldId="280"/>
            <ac:spMk id="3" creationId="{00000000-0000-0000-0000-000000000000}"/>
          </ac:spMkLst>
        </pc:spChg>
        <pc:picChg chg="del">
          <ac:chgData name="Pan Weike" userId="f48425db970607a4" providerId="LiveId" clId="{FAF3A6CF-1F6C-45EB-82E8-CD84AF97E2B2}" dt="2020-09-05T13:00:16.887" v="65" actId="478"/>
          <ac:picMkLst>
            <pc:docMk/>
            <pc:sldMk cId="4259365513" sldId="280"/>
            <ac:picMk id="5" creationId="{00000000-0000-0000-0000-000000000000}"/>
          </ac:picMkLst>
        </pc:picChg>
        <pc:picChg chg="add del mod">
          <ac:chgData name="Pan Weike" userId="f48425db970607a4" providerId="LiveId" clId="{FAF3A6CF-1F6C-45EB-82E8-CD84AF97E2B2}" dt="2020-09-05T13:00:38.571" v="68" actId="478"/>
          <ac:picMkLst>
            <pc:docMk/>
            <pc:sldMk cId="4259365513" sldId="280"/>
            <ac:picMk id="8" creationId="{04A0E8C4-693A-429F-A6AB-B7ABFB79995A}"/>
          </ac:picMkLst>
        </pc:picChg>
      </pc:sldChg>
      <pc:sldChg chg="modSp mod">
        <pc:chgData name="Pan Weike" userId="f48425db970607a4" providerId="LiveId" clId="{FAF3A6CF-1F6C-45EB-82E8-CD84AF97E2B2}" dt="2020-09-05T13:53:59.102" v="430" actId="207"/>
        <pc:sldMkLst>
          <pc:docMk/>
          <pc:sldMk cId="2240966349" sldId="281"/>
        </pc:sldMkLst>
        <pc:spChg chg="mod">
          <ac:chgData name="Pan Weike" userId="f48425db970607a4" providerId="LiveId" clId="{FAF3A6CF-1F6C-45EB-82E8-CD84AF97E2B2}" dt="2020-09-05T13:53:59.102" v="430" actId="207"/>
          <ac:spMkLst>
            <pc:docMk/>
            <pc:sldMk cId="2240966349" sldId="281"/>
            <ac:spMk id="3" creationId="{00000000-0000-0000-0000-000000000000}"/>
          </ac:spMkLst>
        </pc:spChg>
      </pc:sldChg>
      <pc:sldChg chg="modSp mod">
        <pc:chgData name="Pan Weike" userId="f48425db970607a4" providerId="LiveId" clId="{FAF3A6CF-1F6C-45EB-82E8-CD84AF97E2B2}" dt="2020-09-05T13:24:11.478" v="291"/>
        <pc:sldMkLst>
          <pc:docMk/>
          <pc:sldMk cId="4160280422" sldId="282"/>
        </pc:sldMkLst>
        <pc:spChg chg="mod">
          <ac:chgData name="Pan Weike" userId="f48425db970607a4" providerId="LiveId" clId="{FAF3A6CF-1F6C-45EB-82E8-CD84AF97E2B2}" dt="2020-09-05T13:24:11.478" v="291"/>
          <ac:spMkLst>
            <pc:docMk/>
            <pc:sldMk cId="4160280422" sldId="282"/>
            <ac:spMk id="3" creationId="{00000000-0000-0000-0000-000000000000}"/>
          </ac:spMkLst>
        </pc:spChg>
      </pc:sldChg>
      <pc:sldChg chg="modSp mod">
        <pc:chgData name="Pan Weike" userId="f48425db970607a4" providerId="LiveId" clId="{FAF3A6CF-1F6C-45EB-82E8-CD84AF97E2B2}" dt="2020-09-05T13:52:23.878" v="386" actId="2711"/>
        <pc:sldMkLst>
          <pc:docMk/>
          <pc:sldMk cId="2240966349" sldId="287"/>
        </pc:sldMkLst>
        <pc:spChg chg="mod">
          <ac:chgData name="Pan Weike" userId="f48425db970607a4" providerId="LiveId" clId="{FAF3A6CF-1F6C-45EB-82E8-CD84AF97E2B2}" dt="2020-09-05T13:52:23.878" v="386" actId="2711"/>
          <ac:spMkLst>
            <pc:docMk/>
            <pc:sldMk cId="2240966349" sldId="287"/>
            <ac:spMk id="3" creationId="{00000000-0000-0000-0000-000000000000}"/>
          </ac:spMkLst>
        </pc:spChg>
      </pc:sldChg>
      <pc:sldChg chg="addSp delSp modSp mod">
        <pc:chgData name="Pan Weike" userId="f48425db970607a4" providerId="LiveId" clId="{FAF3A6CF-1F6C-45EB-82E8-CD84AF97E2B2}" dt="2020-09-05T13:20:20.168" v="173" actId="6549"/>
        <pc:sldMkLst>
          <pc:docMk/>
          <pc:sldMk cId="4160280422" sldId="288"/>
        </pc:sldMkLst>
        <pc:spChg chg="mod">
          <ac:chgData name="Pan Weike" userId="f48425db970607a4" providerId="LiveId" clId="{FAF3A6CF-1F6C-45EB-82E8-CD84AF97E2B2}" dt="2020-09-05T13:20:20.168" v="173" actId="6549"/>
          <ac:spMkLst>
            <pc:docMk/>
            <pc:sldMk cId="4160280422" sldId="288"/>
            <ac:spMk id="3" creationId="{00000000-0000-0000-0000-000000000000}"/>
          </ac:spMkLst>
        </pc:spChg>
        <pc:picChg chg="del">
          <ac:chgData name="Pan Weike" userId="f48425db970607a4" providerId="LiveId" clId="{FAF3A6CF-1F6C-45EB-82E8-CD84AF97E2B2}" dt="2020-09-05T13:15:35.187" v="172" actId="478"/>
          <ac:picMkLst>
            <pc:docMk/>
            <pc:sldMk cId="4160280422" sldId="288"/>
            <ac:picMk id="10" creationId="{00000000-0000-0000-0000-000000000000}"/>
          </ac:picMkLst>
        </pc:picChg>
        <pc:picChg chg="add mod">
          <ac:chgData name="Pan Weike" userId="f48425db970607a4" providerId="LiveId" clId="{FAF3A6CF-1F6C-45EB-82E8-CD84AF97E2B2}" dt="2020-09-05T13:15:33.974" v="171" actId="167"/>
          <ac:picMkLst>
            <pc:docMk/>
            <pc:sldMk cId="4160280422" sldId="288"/>
            <ac:picMk id="1026" creationId="{3B028A5D-C9ED-43C5-B854-B418C3FADA4E}"/>
          </ac:picMkLst>
        </pc:picChg>
      </pc:sldChg>
      <pc:sldChg chg="addSp delSp modSp mod">
        <pc:chgData name="Pan Weike" userId="f48425db970607a4" providerId="LiveId" clId="{FAF3A6CF-1F6C-45EB-82E8-CD84AF97E2B2}" dt="2020-09-11T13:23:00.404" v="483" actId="478"/>
        <pc:sldMkLst>
          <pc:docMk/>
          <pc:sldMk cId="4160280422" sldId="289"/>
        </pc:sldMkLst>
        <pc:spChg chg="mod">
          <ac:chgData name="Pan Weike" userId="f48425db970607a4" providerId="LiveId" clId="{FAF3A6CF-1F6C-45EB-82E8-CD84AF97E2B2}" dt="2020-09-11T13:20:09.864" v="471" actId="6549"/>
          <ac:spMkLst>
            <pc:docMk/>
            <pc:sldMk cId="4160280422" sldId="289"/>
            <ac:spMk id="3" creationId="{00000000-0000-0000-0000-000000000000}"/>
          </ac:spMkLst>
        </pc:spChg>
        <pc:picChg chg="add mod ord">
          <ac:chgData name="Pan Weike" userId="f48425db970607a4" providerId="LiveId" clId="{FAF3A6CF-1F6C-45EB-82E8-CD84AF97E2B2}" dt="2020-09-11T13:22:58.914" v="482" actId="167"/>
          <ac:picMkLst>
            <pc:docMk/>
            <pc:sldMk cId="4160280422" sldId="289"/>
            <ac:picMk id="6" creationId="{055BD2A9-EE14-46CE-80B2-1A171EC03958}"/>
          </ac:picMkLst>
        </pc:picChg>
        <pc:picChg chg="add del mod">
          <ac:chgData name="Pan Weike" userId="f48425db970607a4" providerId="LiveId" clId="{FAF3A6CF-1F6C-45EB-82E8-CD84AF97E2B2}" dt="2020-09-11T13:20:42.644" v="477"/>
          <ac:picMkLst>
            <pc:docMk/>
            <pc:sldMk cId="4160280422" sldId="289"/>
            <ac:picMk id="1026" creationId="{3F584827-6EB7-4AC9-9D73-241483751826}"/>
          </ac:picMkLst>
        </pc:picChg>
        <pc:picChg chg="del">
          <ac:chgData name="Pan Weike" userId="f48425db970607a4" providerId="LiveId" clId="{FAF3A6CF-1F6C-45EB-82E8-CD84AF97E2B2}" dt="2020-09-11T13:23:00.404" v="483" actId="478"/>
          <ac:picMkLst>
            <pc:docMk/>
            <pc:sldMk cId="4160280422" sldId="289"/>
            <ac:picMk id="2052" creationId="{00000000-0000-0000-0000-000000000000}"/>
          </ac:picMkLst>
        </pc:picChg>
      </pc:sldChg>
      <pc:sldChg chg="addSp delSp modSp mod">
        <pc:chgData name="Pan Weike" userId="f48425db970607a4" providerId="LiveId" clId="{FAF3A6CF-1F6C-45EB-82E8-CD84AF97E2B2}" dt="2020-09-05T13:48:49.166" v="377"/>
        <pc:sldMkLst>
          <pc:docMk/>
          <pc:sldMk cId="1684404695" sldId="291"/>
        </pc:sldMkLst>
        <pc:spChg chg="add del">
          <ac:chgData name="Pan Weike" userId="f48425db970607a4" providerId="LiveId" clId="{FAF3A6CF-1F6C-45EB-82E8-CD84AF97E2B2}" dt="2020-09-05T13:46:48.456" v="348"/>
          <ac:spMkLst>
            <pc:docMk/>
            <pc:sldMk cId="1684404695" sldId="291"/>
            <ac:spMk id="2" creationId="{590F04C4-10C8-477B-9DFC-F8396FE61193}"/>
          </ac:spMkLst>
        </pc:spChg>
        <pc:spChg chg="mod">
          <ac:chgData name="Pan Weike" userId="f48425db970607a4" providerId="LiveId" clId="{FAF3A6CF-1F6C-45EB-82E8-CD84AF97E2B2}" dt="2020-09-05T13:47:33.109" v="356" actId="1076"/>
          <ac:spMkLst>
            <pc:docMk/>
            <pc:sldMk cId="1684404695" sldId="291"/>
            <ac:spMk id="3" creationId="{00000000-0000-0000-0000-000000000000}"/>
          </ac:spMkLst>
        </pc:spChg>
        <pc:spChg chg="mod">
          <ac:chgData name="Pan Weike" userId="f48425db970607a4" providerId="LiveId" clId="{FAF3A6CF-1F6C-45EB-82E8-CD84AF97E2B2}" dt="2020-09-05T13:48:49.166" v="377"/>
          <ac:spMkLst>
            <pc:docMk/>
            <pc:sldMk cId="1684404695" sldId="291"/>
            <ac:spMk id="8" creationId="{00000000-0000-0000-0000-000000000000}"/>
          </ac:spMkLst>
        </pc:spChg>
        <pc:spChg chg="mod">
          <ac:chgData name="Pan Weike" userId="f48425db970607a4" providerId="LiveId" clId="{FAF3A6CF-1F6C-45EB-82E8-CD84AF97E2B2}" dt="2020-09-05T13:47:58.950" v="371" actId="6549"/>
          <ac:spMkLst>
            <pc:docMk/>
            <pc:sldMk cId="1684404695" sldId="291"/>
            <ac:spMk id="10" creationId="{00000000-0000-0000-0000-000000000000}"/>
          </ac:spMkLst>
        </pc:spChg>
        <pc:picChg chg="add mod">
          <ac:chgData name="Pan Weike" userId="f48425db970607a4" providerId="LiveId" clId="{FAF3A6CF-1F6C-45EB-82E8-CD84AF97E2B2}" dt="2020-09-05T13:47:28.492" v="355" actId="1076"/>
          <ac:picMkLst>
            <pc:docMk/>
            <pc:sldMk cId="1684404695" sldId="291"/>
            <ac:picMk id="5" creationId="{570DEAAC-FDCB-4931-8A7D-6E17A0516699}"/>
          </ac:picMkLst>
        </pc:picChg>
        <pc:picChg chg="del">
          <ac:chgData name="Pan Weike" userId="f48425db970607a4" providerId="LiveId" clId="{FAF3A6CF-1F6C-45EB-82E8-CD84AF97E2B2}" dt="2020-09-05T13:46:44.230" v="346" actId="478"/>
          <ac:picMkLst>
            <pc:docMk/>
            <pc:sldMk cId="1684404695" sldId="291"/>
            <ac:picMk id="1026" creationId="{00000000-0000-0000-0000-000000000000}"/>
          </ac:picMkLst>
        </pc:picChg>
      </pc:sldChg>
      <pc:sldChg chg="modSp add del mod">
        <pc:chgData name="Pan Weike" userId="f48425db970607a4" providerId="LiveId" clId="{FAF3A6CF-1F6C-45EB-82E8-CD84AF97E2B2}" dt="2020-09-05T13:33:46.027" v="344" actId="2696"/>
        <pc:sldMkLst>
          <pc:docMk/>
          <pc:sldMk cId="3774166585" sldId="299"/>
        </pc:sldMkLst>
        <pc:spChg chg="mod">
          <ac:chgData name="Pan Weike" userId="f48425db970607a4" providerId="LiveId" clId="{FAF3A6CF-1F6C-45EB-82E8-CD84AF97E2B2}" dt="2020-09-05T13:32:53.545" v="333" actId="21"/>
          <ac:spMkLst>
            <pc:docMk/>
            <pc:sldMk cId="3774166585" sldId="299"/>
            <ac:spMk id="3" creationId="{00000000-0000-0000-0000-000000000000}"/>
          </ac:spMkLst>
        </pc:spChg>
      </pc:sldChg>
    </pc:docChg>
  </pc:docChgLst>
  <pc:docChgLst>
    <pc:chgData name="Pan Weike" userId="f48425db970607a4" providerId="LiveId" clId="{053DAB16-98AD-4E07-B063-CD472DFEA441}"/>
    <pc:docChg chg="custSel modSld">
      <pc:chgData name="Pan Weike" userId="f48425db970607a4" providerId="LiveId" clId="{053DAB16-98AD-4E07-B063-CD472DFEA441}" dt="2021-09-10T16:51:22.728" v="467"/>
      <pc:docMkLst>
        <pc:docMk/>
      </pc:docMkLst>
      <pc:sldChg chg="modSp mod">
        <pc:chgData name="Pan Weike" userId="f48425db970607a4" providerId="LiveId" clId="{053DAB16-98AD-4E07-B063-CD472DFEA441}" dt="2021-09-09T01:07:19.619" v="362"/>
        <pc:sldMkLst>
          <pc:docMk/>
          <pc:sldMk cId="3056543123" sldId="274"/>
        </pc:sldMkLst>
        <pc:spChg chg="mod">
          <ac:chgData name="Pan Weike" userId="f48425db970607a4" providerId="LiveId" clId="{053DAB16-98AD-4E07-B063-CD472DFEA441}" dt="2021-09-09T01:07:19.619" v="362"/>
          <ac:spMkLst>
            <pc:docMk/>
            <pc:sldMk cId="3056543123" sldId="274"/>
            <ac:spMk id="3" creationId="{00000000-0000-0000-0000-000000000000}"/>
          </ac:spMkLst>
        </pc:spChg>
      </pc:sldChg>
      <pc:sldChg chg="modSp mod">
        <pc:chgData name="Pan Weike" userId="f48425db970607a4" providerId="LiveId" clId="{053DAB16-98AD-4E07-B063-CD472DFEA441}" dt="2021-09-09T01:00:49.532" v="260" actId="20577"/>
        <pc:sldMkLst>
          <pc:docMk/>
          <pc:sldMk cId="3812763741" sldId="276"/>
        </pc:sldMkLst>
        <pc:spChg chg="mod">
          <ac:chgData name="Pan Weike" userId="f48425db970607a4" providerId="LiveId" clId="{053DAB16-98AD-4E07-B063-CD472DFEA441}" dt="2021-09-09T01:00:49.532" v="260" actId="20577"/>
          <ac:spMkLst>
            <pc:docMk/>
            <pc:sldMk cId="3812763741" sldId="276"/>
            <ac:spMk id="3" creationId="{00000000-0000-0000-0000-000000000000}"/>
          </ac:spMkLst>
        </pc:spChg>
      </pc:sldChg>
      <pc:sldChg chg="modSp mod modNotesTx">
        <pc:chgData name="Pan Weike" userId="f48425db970607a4" providerId="LiveId" clId="{053DAB16-98AD-4E07-B063-CD472DFEA441}" dt="2021-09-09T01:25:26.170" v="456" actId="20577"/>
        <pc:sldMkLst>
          <pc:docMk/>
          <pc:sldMk cId="1690425160" sldId="277"/>
        </pc:sldMkLst>
        <pc:spChg chg="mod">
          <ac:chgData name="Pan Weike" userId="f48425db970607a4" providerId="LiveId" clId="{053DAB16-98AD-4E07-B063-CD472DFEA441}" dt="2021-09-09T01:25:12.360" v="417" actId="20577"/>
          <ac:spMkLst>
            <pc:docMk/>
            <pc:sldMk cId="1690425160" sldId="277"/>
            <ac:spMk id="3" creationId="{00000000-0000-0000-0000-000000000000}"/>
          </ac:spMkLst>
        </pc:spChg>
      </pc:sldChg>
      <pc:sldChg chg="modSp mod">
        <pc:chgData name="Pan Weike" userId="f48425db970607a4" providerId="LiveId" clId="{053DAB16-98AD-4E07-B063-CD472DFEA441}" dt="2021-09-09T01:08:25.228" v="387" actId="113"/>
        <pc:sldMkLst>
          <pc:docMk/>
          <pc:sldMk cId="1493662491" sldId="278"/>
        </pc:sldMkLst>
        <pc:spChg chg="mod">
          <ac:chgData name="Pan Weike" userId="f48425db970607a4" providerId="LiveId" clId="{053DAB16-98AD-4E07-B063-CD472DFEA441}" dt="2021-09-09T01:08:25.228" v="387" actId="113"/>
          <ac:spMkLst>
            <pc:docMk/>
            <pc:sldMk cId="1493662491" sldId="278"/>
            <ac:spMk id="3" creationId="{00000000-0000-0000-0000-000000000000}"/>
          </ac:spMkLst>
        </pc:spChg>
      </pc:sldChg>
      <pc:sldChg chg="modSp mod">
        <pc:chgData name="Pan Weike" userId="f48425db970607a4" providerId="LiveId" clId="{053DAB16-98AD-4E07-B063-CD472DFEA441}" dt="2021-09-09T00:48:10.714" v="53"/>
        <pc:sldMkLst>
          <pc:docMk/>
          <pc:sldMk cId="2240966349" sldId="281"/>
        </pc:sldMkLst>
        <pc:spChg chg="mod">
          <ac:chgData name="Pan Weike" userId="f48425db970607a4" providerId="LiveId" clId="{053DAB16-98AD-4E07-B063-CD472DFEA441}" dt="2021-09-09T00:48:10.714" v="53"/>
          <ac:spMkLst>
            <pc:docMk/>
            <pc:sldMk cId="2240966349" sldId="281"/>
            <ac:spMk id="3" creationId="{00000000-0000-0000-0000-000000000000}"/>
          </ac:spMkLst>
        </pc:spChg>
      </pc:sldChg>
      <pc:sldChg chg="modSp mod">
        <pc:chgData name="Pan Weike" userId="f48425db970607a4" providerId="LiveId" clId="{053DAB16-98AD-4E07-B063-CD472DFEA441}" dt="2021-09-09T00:53:16.731" v="75" actId="20577"/>
        <pc:sldMkLst>
          <pc:docMk/>
          <pc:sldMk cId="2961176716" sldId="283"/>
        </pc:sldMkLst>
        <pc:spChg chg="mod">
          <ac:chgData name="Pan Weike" userId="f48425db970607a4" providerId="LiveId" clId="{053DAB16-98AD-4E07-B063-CD472DFEA441}" dt="2021-09-09T00:53:16.731" v="75" actId="20577"/>
          <ac:spMkLst>
            <pc:docMk/>
            <pc:sldMk cId="2961176716" sldId="283"/>
            <ac:spMk id="3" creationId="{00000000-0000-0000-0000-000000000000}"/>
          </ac:spMkLst>
        </pc:spChg>
      </pc:sldChg>
      <pc:sldChg chg="modSp mod">
        <pc:chgData name="Pan Weike" userId="f48425db970607a4" providerId="LiveId" clId="{053DAB16-98AD-4E07-B063-CD472DFEA441}" dt="2021-09-09T00:55:49.178" v="252" actId="20577"/>
        <pc:sldMkLst>
          <pc:docMk/>
          <pc:sldMk cId="2240966349" sldId="286"/>
        </pc:sldMkLst>
        <pc:spChg chg="mod">
          <ac:chgData name="Pan Weike" userId="f48425db970607a4" providerId="LiveId" clId="{053DAB16-98AD-4E07-B063-CD472DFEA441}" dt="2021-09-09T00:55:49.178" v="252" actId="20577"/>
          <ac:spMkLst>
            <pc:docMk/>
            <pc:sldMk cId="2240966349" sldId="286"/>
            <ac:spMk id="3" creationId="{00000000-0000-0000-0000-000000000000}"/>
          </ac:spMkLst>
        </pc:spChg>
      </pc:sldChg>
      <pc:sldChg chg="modSp mod">
        <pc:chgData name="Pan Weike" userId="f48425db970607a4" providerId="LiveId" clId="{053DAB16-98AD-4E07-B063-CD472DFEA441}" dt="2021-09-09T00:54:38.125" v="228" actId="20577"/>
        <pc:sldMkLst>
          <pc:docMk/>
          <pc:sldMk cId="1960688998" sldId="292"/>
        </pc:sldMkLst>
        <pc:spChg chg="mod">
          <ac:chgData name="Pan Weike" userId="f48425db970607a4" providerId="LiveId" clId="{053DAB16-98AD-4E07-B063-CD472DFEA441}" dt="2021-09-09T00:54:38.125" v="228" actId="20577"/>
          <ac:spMkLst>
            <pc:docMk/>
            <pc:sldMk cId="1960688998" sldId="292"/>
            <ac:spMk id="3" creationId="{00000000-0000-0000-0000-000000000000}"/>
          </ac:spMkLst>
        </pc:spChg>
      </pc:sldChg>
      <pc:sldChg chg="modSp mod">
        <pc:chgData name="Pan Weike" userId="f48425db970607a4" providerId="LiveId" clId="{053DAB16-98AD-4E07-B063-CD472DFEA441}" dt="2021-09-09T00:55:39.249" v="239" actId="20577"/>
        <pc:sldMkLst>
          <pc:docMk/>
          <pc:sldMk cId="1133407303" sldId="298"/>
        </pc:sldMkLst>
        <pc:spChg chg="mod">
          <ac:chgData name="Pan Weike" userId="f48425db970607a4" providerId="LiveId" clId="{053DAB16-98AD-4E07-B063-CD472DFEA441}" dt="2021-09-09T00:55:39.249" v="239" actId="20577"/>
          <ac:spMkLst>
            <pc:docMk/>
            <pc:sldMk cId="1133407303" sldId="298"/>
            <ac:spMk id="3" creationId="{00000000-0000-0000-0000-000000000000}"/>
          </ac:spMkLst>
        </pc:spChg>
      </pc:sldChg>
      <pc:sldChg chg="modSp mod">
        <pc:chgData name="Pan Weike" userId="f48425db970607a4" providerId="LiveId" clId="{053DAB16-98AD-4E07-B063-CD472DFEA441}" dt="2021-09-10T16:51:22.728" v="467"/>
        <pc:sldMkLst>
          <pc:docMk/>
          <pc:sldMk cId="2475060295" sldId="300"/>
        </pc:sldMkLst>
        <pc:spChg chg="mod">
          <ac:chgData name="Pan Weike" userId="f48425db970607a4" providerId="LiveId" clId="{053DAB16-98AD-4E07-B063-CD472DFEA441}" dt="2021-09-10T16:51:22.728" v="467"/>
          <ac:spMkLst>
            <pc:docMk/>
            <pc:sldMk cId="2475060295" sldId="300"/>
            <ac:spMk id="3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889938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777607" y="0"/>
            <a:ext cx="2889938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F3AAEB-0301-4ED0-B1D0-4BE1EF9D72C0}" type="datetimeFigureOut">
              <a:rPr lang="zh-CN" altLang="en-US" smtClean="0"/>
              <a:pPr/>
              <a:t>2021/9/11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428583"/>
            <a:ext cx="2889938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777607" y="9428583"/>
            <a:ext cx="2889938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D3329D-B319-4444-A6F8-36F9B0FE2A71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430811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889938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9E4CAA-C537-49B2-B1D0-8E53BDF38890}" type="datetimeFigureOut">
              <a:rPr lang="zh-CN" altLang="en-US" smtClean="0"/>
              <a:pPr/>
              <a:t>2021/9/11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854075" y="744538"/>
            <a:ext cx="4960938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66909" y="4715153"/>
            <a:ext cx="5335270" cy="44669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28583"/>
            <a:ext cx="2889938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777607" y="9428583"/>
            <a:ext cx="2889938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848019-7F8E-4133-9E4F-948F643F493C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93191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savvy: </a:t>
            </a:r>
            <a:r>
              <a:rPr lang="zh-CN" altLang="en-US"/>
              <a:t>见识、了解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848019-7F8E-4133-9E4F-948F643F493C}" type="slidenum">
              <a:rPr lang="zh-CN" altLang="en-US" smtClean="0"/>
              <a:pPr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41805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9/11/2021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78196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9/11/2021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951005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9/11/2021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87237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9/11/2021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13187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9/11/2021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499437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9/11/2021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150992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9/11/2021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698684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9/11/2021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080731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9/11/2021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728220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9/11/2021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925965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9/11/2021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57189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9/11/2021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19816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csse.szu.edu.cn/staff/panwk/" TargetMode="External"/><Relationship Id="rId2" Type="http://schemas.openxmlformats.org/officeDocument/2006/relationships/hyperlink" Target="mailto:panweike@szu.edu.cn" TargetMode="Externa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horstmann.com/corejava/index.html" TargetMode="Externa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9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course163.org/" TargetMode="External"/><Relationship Id="rId2" Type="http://schemas.openxmlformats.org/officeDocument/2006/relationships/hyperlink" Target="http://www.xuetangx.com/" TargetMode="External"/><Relationship Id="rId1" Type="http://schemas.openxmlformats.org/officeDocument/2006/relationships/slideLayout" Target="../slideLayouts/slideLayout13.xml"/><Relationship Id="rId6" Type="http://schemas.openxmlformats.org/officeDocument/2006/relationships/hyperlink" Target="https://www.udacity.com/" TargetMode="External"/><Relationship Id="rId5" Type="http://schemas.openxmlformats.org/officeDocument/2006/relationships/hyperlink" Target="https://www.edx.org/" TargetMode="External"/><Relationship Id="rId4" Type="http://schemas.openxmlformats.org/officeDocument/2006/relationships/hyperlink" Target="https://www.coursera.org/" TargetMode="Externa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ebp"/><Relationship Id="rId2" Type="http://schemas.openxmlformats.org/officeDocument/2006/relationships/hyperlink" Target="https://spectrum.ieee.org/top-programming-languages-2021" TargetMode="Externa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hyperlink" Target="https://spectrum.ieee.org/at-work/tech-careers/top-programming-language-2020" TargetMode="Externa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hyperlink" Target="http://en.wikipedia.org/wiki/Java_version_history" TargetMode="Externa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hyperlink" Target="http://en.wikipedia.org/wiki/Java_(programming_language)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jpe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CN" sz="4800" dirty="0">
                <a:latin typeface="+mn-lt"/>
              </a:rPr>
              <a:t>JAVA</a:t>
            </a:r>
            <a:r>
              <a:rPr lang="zh-CN" altLang="en-US" sz="4800" dirty="0">
                <a:latin typeface="仿宋" panose="02010609060101010101" pitchFamily="49" charset="-122"/>
                <a:ea typeface="仿宋" panose="02010609060101010101" pitchFamily="49" charset="-122"/>
              </a:rPr>
              <a:t>程序设计</a:t>
            </a:r>
            <a:endParaRPr lang="en-US" sz="3600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潘微科</a:t>
            </a:r>
            <a:endParaRPr lang="en-US" altLang="zh-CN" sz="2400" dirty="0">
              <a:solidFill>
                <a:schemeClr val="tx1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endParaRPr lang="en-US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72306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zh-CN" altLang="en-US" sz="3200" dirty="0">
                <a:latin typeface="仿宋" panose="02010609060101010101" pitchFamily="49" charset="-122"/>
                <a:ea typeface="仿宋" panose="02010609060101010101" pitchFamily="49" charset="-122"/>
              </a:rPr>
              <a:t>教师信息</a:t>
            </a:r>
            <a:endParaRPr lang="en-US" sz="3200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</a:rPr>
              <a:t>潘微科</a:t>
            </a:r>
            <a:endParaRPr lang="en-US" altLang="zh-CN" sz="2000" dirty="0"/>
          </a:p>
          <a:p>
            <a:r>
              <a:rPr lang="en-US" altLang="zh-CN" sz="2000" dirty="0"/>
              <a:t>Office: </a:t>
            </a:r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</a:rPr>
              <a:t>沧海校区致腾楼</a:t>
            </a:r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</a:rPr>
              <a:t>(</a:t>
            </a:r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</a:rPr>
              <a:t>计算机与软件学院</a:t>
            </a:r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</a:rPr>
              <a:t>)</a:t>
            </a:r>
            <a:r>
              <a:rPr lang="en-US" altLang="zh-CN" sz="2000" dirty="0"/>
              <a:t>724</a:t>
            </a:r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</a:rPr>
              <a:t>室</a:t>
            </a:r>
            <a:endParaRPr lang="en-US" altLang="zh-CN" sz="20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r>
              <a:rPr lang="en-US" altLang="zh-CN" sz="2000" dirty="0"/>
              <a:t>Email: </a:t>
            </a:r>
            <a:r>
              <a:rPr lang="en-US" altLang="zh-CN" sz="2000" dirty="0">
                <a:hlinkClick r:id="rId2"/>
              </a:rPr>
              <a:t>panweike@szu.edu.cn</a:t>
            </a:r>
            <a:endParaRPr lang="en-US" altLang="zh-CN" sz="2000" dirty="0"/>
          </a:p>
          <a:p>
            <a:r>
              <a:rPr lang="en-US" altLang="zh-CN" sz="2000" dirty="0"/>
              <a:t>Office hour: </a:t>
            </a:r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</a:rPr>
              <a:t>周一下午</a:t>
            </a:r>
            <a:r>
              <a:rPr lang="en-US" altLang="zh-CN" sz="2000" dirty="0"/>
              <a:t>14:00-16:00</a:t>
            </a:r>
          </a:p>
          <a:p>
            <a:endParaRPr lang="en-US" altLang="zh-CN" sz="20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</a:rPr>
              <a:t>更多信息：</a:t>
            </a:r>
            <a:r>
              <a:rPr lang="en-US" altLang="zh-CN" sz="2000" dirty="0">
                <a:hlinkClick r:id="rId3"/>
              </a:rPr>
              <a:t>http://csse.szu.edu.cn/staff/panwk/</a:t>
            </a:r>
            <a:r>
              <a:rPr lang="en-US" altLang="zh-CN" sz="2000" dirty="0"/>
              <a:t>   </a:t>
            </a: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7" name="Picture 2" descr="WeiKe Pan's photo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66455" y="762306"/>
            <a:ext cx="1307232" cy="19785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593655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zh-CN" altLang="en-US" sz="3200" dirty="0">
                <a:latin typeface="仿宋" panose="02010609060101010101" pitchFamily="49" charset="-122"/>
                <a:ea typeface="仿宋" panose="02010609060101010101" pitchFamily="49" charset="-122"/>
              </a:rPr>
              <a:t>课程信息（</a:t>
            </a:r>
            <a:r>
              <a:rPr lang="zh-CN" altLang="en-US" sz="3200" b="1" dirty="0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周五下午班</a:t>
            </a:r>
            <a:r>
              <a:rPr lang="zh-CN" altLang="en-US" sz="3200" dirty="0">
                <a:latin typeface="仿宋" panose="02010609060101010101" pitchFamily="49" charset="-122"/>
                <a:ea typeface="仿宋" panose="02010609060101010101" pitchFamily="49" charset="-122"/>
              </a:rPr>
              <a:t>）</a:t>
            </a:r>
            <a:endParaRPr lang="en-US" sz="3200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</a:rPr>
              <a:t>基本信息：</a:t>
            </a:r>
            <a:endParaRPr lang="en-US" altLang="zh-CN" sz="20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lvl="1"/>
            <a:r>
              <a:rPr lang="zh-CN" altLang="en-US" sz="1600" dirty="0">
                <a:latin typeface="仿宋" panose="02010609060101010101" pitchFamily="49" charset="-122"/>
                <a:ea typeface="仿宋" panose="02010609060101010101" pitchFamily="49" charset="-122"/>
              </a:rPr>
              <a:t>课程号：</a:t>
            </a:r>
            <a:r>
              <a:rPr lang="en-US" altLang="zh-CN" sz="1600" dirty="0">
                <a:ea typeface="仿宋" panose="02010609060101010101" pitchFamily="49" charset="-122"/>
              </a:rPr>
              <a:t>150003004</a:t>
            </a:r>
            <a:r>
              <a:rPr lang="en-US" altLang="zh-CN" sz="1600" b="1" dirty="0">
                <a:solidFill>
                  <a:srgbClr val="FF0000"/>
                </a:solidFill>
                <a:ea typeface="仿宋" panose="02010609060101010101" pitchFamily="49" charset="-122"/>
              </a:rPr>
              <a:t>[04]</a:t>
            </a:r>
          </a:p>
          <a:p>
            <a:pPr lvl="1"/>
            <a:r>
              <a:rPr lang="zh-CN" altLang="en-US" sz="1600" dirty="0">
                <a:latin typeface="仿宋" panose="02010609060101010101" pitchFamily="49" charset="-122"/>
                <a:ea typeface="仿宋" panose="02010609060101010101" pitchFamily="49" charset="-122"/>
              </a:rPr>
              <a:t>课程名称：</a:t>
            </a:r>
            <a:r>
              <a:rPr lang="en-US" altLang="zh-CN" sz="1600" dirty="0">
                <a:ea typeface="仿宋" panose="02010609060101010101" pitchFamily="49" charset="-122"/>
              </a:rPr>
              <a:t>Java</a:t>
            </a:r>
            <a:r>
              <a:rPr lang="zh-CN" altLang="en-US" sz="1600" dirty="0">
                <a:latin typeface="仿宋" panose="02010609060101010101" pitchFamily="49" charset="-122"/>
                <a:ea typeface="仿宋" panose="02010609060101010101" pitchFamily="49" charset="-122"/>
              </a:rPr>
              <a:t>程序设计</a:t>
            </a:r>
            <a:endParaRPr lang="en-US" altLang="zh-CN" sz="16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lvl="1"/>
            <a:r>
              <a:rPr lang="zh-CN" altLang="en-US" sz="1600" dirty="0">
                <a:latin typeface="仿宋" panose="02010609060101010101" pitchFamily="49" charset="-122"/>
                <a:ea typeface="仿宋" panose="02010609060101010101" pitchFamily="49" charset="-122"/>
              </a:rPr>
              <a:t>课程类别：学科专业选修</a:t>
            </a:r>
          </a:p>
          <a:p>
            <a:pPr lvl="1"/>
            <a:r>
              <a:rPr lang="zh-CN" altLang="en-US" sz="1600" dirty="0">
                <a:latin typeface="仿宋" panose="02010609060101010101" pitchFamily="49" charset="-122"/>
                <a:ea typeface="仿宋" panose="02010609060101010101" pitchFamily="49" charset="-122"/>
              </a:rPr>
              <a:t>学分：</a:t>
            </a:r>
            <a:r>
              <a:rPr lang="en-US" altLang="zh-CN" sz="1600" dirty="0">
                <a:ea typeface="仿宋" panose="02010609060101010101" pitchFamily="49" charset="-122"/>
              </a:rPr>
              <a:t>3</a:t>
            </a:r>
            <a:r>
              <a:rPr lang="zh-CN" altLang="en-US" sz="1600" dirty="0">
                <a:latin typeface="仿宋" panose="02010609060101010101" pitchFamily="49" charset="-122"/>
                <a:ea typeface="仿宋" panose="02010609060101010101" pitchFamily="49" charset="-122"/>
              </a:rPr>
              <a:t>学分（理科学分）</a:t>
            </a:r>
          </a:p>
          <a:p>
            <a:pPr lvl="1"/>
            <a:r>
              <a:rPr lang="zh-CN" altLang="en-US" sz="1600" dirty="0">
                <a:latin typeface="仿宋" panose="02010609060101010101" pitchFamily="49" charset="-122"/>
                <a:ea typeface="仿宋" panose="02010609060101010101" pitchFamily="49" charset="-122"/>
              </a:rPr>
              <a:t>学时：</a:t>
            </a:r>
            <a:r>
              <a:rPr lang="en-US" altLang="zh-CN" sz="1600" dirty="0">
                <a:ea typeface="仿宋" panose="02010609060101010101" pitchFamily="49" charset="-122"/>
              </a:rPr>
              <a:t>72</a:t>
            </a:r>
            <a:r>
              <a:rPr lang="zh-CN" altLang="en-US" sz="1600" dirty="0">
                <a:latin typeface="仿宋" panose="02010609060101010101" pitchFamily="49" charset="-122"/>
                <a:ea typeface="仿宋" panose="02010609060101010101" pitchFamily="49" charset="-122"/>
              </a:rPr>
              <a:t>学时（</a:t>
            </a:r>
            <a:r>
              <a:rPr lang="en-US" altLang="zh-CN" sz="1600" dirty="0">
                <a:ea typeface="仿宋" panose="02010609060101010101" pitchFamily="49" charset="-122"/>
              </a:rPr>
              <a:t>36</a:t>
            </a:r>
            <a:r>
              <a:rPr lang="zh-CN" altLang="en-US" sz="1600" dirty="0">
                <a:latin typeface="仿宋" panose="02010609060101010101" pitchFamily="49" charset="-122"/>
                <a:ea typeface="仿宋" panose="02010609060101010101" pitchFamily="49" charset="-122"/>
              </a:rPr>
              <a:t>课堂</a:t>
            </a:r>
            <a:r>
              <a:rPr lang="en-US" altLang="zh-CN" sz="1600" dirty="0">
                <a:latin typeface="仿宋" panose="02010609060101010101" pitchFamily="49" charset="-122"/>
                <a:ea typeface="仿宋" panose="02010609060101010101" pitchFamily="49" charset="-122"/>
              </a:rPr>
              <a:t>+</a:t>
            </a:r>
            <a:r>
              <a:rPr lang="en-US" altLang="zh-CN" sz="1600" dirty="0">
                <a:ea typeface="仿宋" panose="02010609060101010101" pitchFamily="49" charset="-122"/>
              </a:rPr>
              <a:t>36</a:t>
            </a:r>
            <a:r>
              <a:rPr lang="zh-CN" altLang="en-US" sz="1600" dirty="0">
                <a:latin typeface="仿宋" panose="02010609060101010101" pitchFamily="49" charset="-122"/>
                <a:ea typeface="仿宋" panose="02010609060101010101" pitchFamily="49" charset="-122"/>
              </a:rPr>
              <a:t>实验）</a:t>
            </a:r>
          </a:p>
          <a:p>
            <a:pPr lvl="1"/>
            <a:r>
              <a:rPr lang="zh-CN" altLang="en-US" sz="1600" dirty="0">
                <a:latin typeface="仿宋" panose="02010609060101010101" pitchFamily="49" charset="-122"/>
                <a:ea typeface="仿宋" panose="02010609060101010101" pitchFamily="49" charset="-122"/>
              </a:rPr>
              <a:t>主选班级：</a:t>
            </a:r>
            <a:r>
              <a:rPr lang="en-US" altLang="zh-CN" sz="1600" b="1" dirty="0">
                <a:solidFill>
                  <a:srgbClr val="FF0000"/>
                </a:solidFill>
                <a:ea typeface="仿宋" panose="02010609060101010101" pitchFamily="49" charset="-122"/>
              </a:rPr>
              <a:t>2020</a:t>
            </a:r>
            <a:r>
              <a:rPr lang="zh-CN" altLang="en-US" sz="1600" b="1" dirty="0">
                <a:solidFill>
                  <a:srgbClr val="FF0000"/>
                </a:solidFill>
                <a:ea typeface="仿宋" panose="02010609060101010101" pitchFamily="49" charset="-122"/>
              </a:rPr>
              <a:t>计算机科学与技术</a:t>
            </a:r>
            <a:r>
              <a:rPr lang="en-US" altLang="zh-CN" sz="1600" b="1" dirty="0">
                <a:solidFill>
                  <a:srgbClr val="FF0000"/>
                </a:solidFill>
                <a:ea typeface="仿宋" panose="02010609060101010101" pitchFamily="49" charset="-122"/>
              </a:rPr>
              <a:t>01</a:t>
            </a:r>
            <a:r>
              <a:rPr lang="zh-CN" altLang="en-US" sz="1600" b="1" dirty="0">
                <a:solidFill>
                  <a:srgbClr val="FF0000"/>
                </a:solidFill>
                <a:ea typeface="仿宋" panose="02010609060101010101" pitchFamily="49" charset="-122"/>
              </a:rPr>
              <a:t>，</a:t>
            </a:r>
            <a:r>
              <a:rPr lang="en-US" altLang="zh-CN" sz="1600" b="1" dirty="0">
                <a:solidFill>
                  <a:srgbClr val="FF0000"/>
                </a:solidFill>
                <a:ea typeface="仿宋" panose="02010609060101010101" pitchFamily="49" charset="-122"/>
              </a:rPr>
              <a:t>2020</a:t>
            </a:r>
            <a:r>
              <a:rPr lang="zh-CN" altLang="en-US" sz="1600" b="1" dirty="0">
                <a:solidFill>
                  <a:srgbClr val="FF0000"/>
                </a:solidFill>
                <a:ea typeface="仿宋" panose="02010609060101010101" pitchFamily="49" charset="-122"/>
              </a:rPr>
              <a:t>软件工程</a:t>
            </a:r>
            <a:r>
              <a:rPr lang="en-US" altLang="zh-CN" sz="1600" b="1" dirty="0">
                <a:solidFill>
                  <a:srgbClr val="FF0000"/>
                </a:solidFill>
                <a:ea typeface="仿宋" panose="02010609060101010101" pitchFamily="49" charset="-122"/>
              </a:rPr>
              <a:t>02</a:t>
            </a:r>
          </a:p>
          <a:p>
            <a:pPr lvl="1"/>
            <a:r>
              <a:rPr lang="zh-CN" altLang="en-US" sz="1600" dirty="0">
                <a:latin typeface="仿宋" panose="02010609060101010101" pitchFamily="49" charset="-122"/>
                <a:ea typeface="仿宋" panose="02010609060101010101" pitchFamily="49" charset="-122"/>
              </a:rPr>
              <a:t>课堂：每</a:t>
            </a:r>
            <a:r>
              <a:rPr lang="zh-CN" altLang="en-US" sz="1600" dirty="0">
                <a:latin typeface="+mj-lt"/>
                <a:ea typeface="仿宋" panose="02010609060101010101" pitchFamily="49" charset="-122"/>
              </a:rPr>
              <a:t>周五</a:t>
            </a:r>
            <a:r>
              <a:rPr lang="zh-CN" altLang="en-US" sz="1600" b="1" dirty="0">
                <a:solidFill>
                  <a:srgbClr val="FF0000"/>
                </a:solidFill>
                <a:latin typeface="+mj-lt"/>
                <a:ea typeface="仿宋" panose="02010609060101010101" pitchFamily="49" charset="-122"/>
              </a:rPr>
              <a:t>第</a:t>
            </a:r>
            <a:r>
              <a:rPr lang="en-US" altLang="zh-CN" sz="1600" b="1" dirty="0">
                <a:solidFill>
                  <a:srgbClr val="FF0000"/>
                </a:solidFill>
                <a:latin typeface="+mj-lt"/>
                <a:ea typeface="仿宋" panose="02010609060101010101" pitchFamily="49" charset="-122"/>
              </a:rPr>
              <a:t>7-8</a:t>
            </a:r>
            <a:r>
              <a:rPr lang="zh-CN" altLang="en-US" sz="1600" b="1" dirty="0">
                <a:solidFill>
                  <a:srgbClr val="FF0000"/>
                </a:solidFill>
                <a:latin typeface="+mj-lt"/>
                <a:ea typeface="仿宋" panose="02010609060101010101" pitchFamily="49" charset="-122"/>
              </a:rPr>
              <a:t>节</a:t>
            </a:r>
            <a:r>
              <a:rPr lang="en-US" altLang="zh-CN" sz="1600" b="1" dirty="0">
                <a:solidFill>
                  <a:srgbClr val="FF0000"/>
                </a:solidFill>
                <a:latin typeface="+mj-lt"/>
                <a:ea typeface="仿宋" panose="02010609060101010101" pitchFamily="49" charset="-122"/>
              </a:rPr>
              <a:t>14:15-15:40</a:t>
            </a:r>
            <a:r>
              <a:rPr lang="zh-CN" altLang="en-US" sz="1600" dirty="0">
                <a:latin typeface="+mj-lt"/>
                <a:ea typeface="仿宋" panose="02010609060101010101" pitchFamily="49" charset="-122"/>
              </a:rPr>
              <a:t>，致理楼</a:t>
            </a:r>
            <a:r>
              <a:rPr lang="en-US" altLang="zh-CN" sz="1600" b="1" dirty="0">
                <a:solidFill>
                  <a:srgbClr val="FF0000"/>
                </a:solidFill>
                <a:latin typeface="+mj-lt"/>
                <a:ea typeface="仿宋" panose="02010609060101010101" pitchFamily="49" charset="-122"/>
              </a:rPr>
              <a:t>L1-206</a:t>
            </a:r>
            <a:r>
              <a:rPr lang="zh-CN" altLang="en-US" sz="1600" dirty="0">
                <a:latin typeface="+mj-lt"/>
                <a:ea typeface="仿宋" panose="02010609060101010101" pitchFamily="49" charset="-122"/>
              </a:rPr>
              <a:t>教室</a:t>
            </a:r>
          </a:p>
          <a:p>
            <a:pPr lvl="1"/>
            <a:r>
              <a:rPr lang="zh-CN" altLang="en-US" sz="1600" dirty="0">
                <a:latin typeface="仿宋" panose="02010609060101010101" pitchFamily="49" charset="-122"/>
                <a:ea typeface="仿宋" panose="02010609060101010101" pitchFamily="49" charset="-122"/>
              </a:rPr>
              <a:t>实验：每周五</a:t>
            </a:r>
            <a:r>
              <a:rPr lang="zh-CN" altLang="en-US" sz="1600" b="1" dirty="0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第</a:t>
            </a:r>
            <a:r>
              <a:rPr lang="en-US" altLang="zh-CN" sz="1600" b="1" dirty="0">
                <a:solidFill>
                  <a:srgbClr val="FF0000"/>
                </a:solidFill>
                <a:latin typeface="+mj-lt"/>
                <a:ea typeface="仿宋" panose="02010609060101010101" pitchFamily="49" charset="-122"/>
              </a:rPr>
              <a:t>9-10</a:t>
            </a:r>
            <a:r>
              <a:rPr lang="zh-CN" altLang="en-US" sz="1600" b="1" dirty="0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节</a:t>
            </a:r>
            <a:r>
              <a:rPr lang="en-US" altLang="zh-CN" sz="1600" b="1" dirty="0">
                <a:solidFill>
                  <a:srgbClr val="FF0000"/>
                </a:solidFill>
                <a:latin typeface="+mj-lt"/>
                <a:ea typeface="仿宋" panose="02010609060101010101" pitchFamily="49" charset="-122"/>
              </a:rPr>
              <a:t>16:00-17:25</a:t>
            </a:r>
            <a:r>
              <a:rPr lang="zh-CN" altLang="en-US" sz="1600" dirty="0">
                <a:latin typeface="仿宋" panose="02010609060101010101" pitchFamily="49" charset="-122"/>
                <a:ea typeface="仿宋" panose="02010609060101010101" pitchFamily="49" charset="-122"/>
              </a:rPr>
              <a:t>，致腾楼</a:t>
            </a:r>
            <a:r>
              <a:rPr lang="en-US" altLang="zh-CN" sz="1600" b="1" dirty="0">
                <a:solidFill>
                  <a:srgbClr val="FF0000"/>
                </a:solidFill>
                <a:latin typeface="+mj-lt"/>
                <a:ea typeface="仿宋" panose="02010609060101010101" pitchFamily="49" charset="-122"/>
              </a:rPr>
              <a:t>326</a:t>
            </a:r>
            <a:r>
              <a:rPr lang="zh-CN" altLang="en-US" sz="1600" dirty="0">
                <a:latin typeface="仿宋" panose="02010609060101010101" pitchFamily="49" charset="-122"/>
                <a:ea typeface="仿宋" panose="02010609060101010101" pitchFamily="49" charset="-122"/>
              </a:rPr>
              <a:t>实验室</a:t>
            </a:r>
            <a:endParaRPr lang="en-US" altLang="zh-CN" sz="16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r>
              <a:rPr lang="en-US" altLang="zh-CN" sz="2000" dirty="0">
                <a:ea typeface="仿宋" panose="02010609060101010101" pitchFamily="49" charset="-122"/>
              </a:rPr>
              <a:t>QQ</a:t>
            </a:r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</a:rPr>
              <a:t>群：“</a:t>
            </a:r>
            <a:r>
              <a:rPr lang="en-US" altLang="zh-CN" sz="2000" dirty="0">
                <a:ea typeface="仿宋" panose="02010609060101010101" pitchFamily="49" charset="-122"/>
              </a:rPr>
              <a:t>Java</a:t>
            </a:r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</a:rPr>
              <a:t>程序设计</a:t>
            </a:r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</a:rPr>
              <a:t>【</a:t>
            </a:r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</a:rPr>
              <a:t>周五下午班</a:t>
            </a:r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</a:rPr>
              <a:t>】(</a:t>
            </a:r>
            <a:r>
              <a:rPr lang="en-US" altLang="zh-CN" sz="2000" dirty="0">
                <a:ea typeface="仿宋" panose="02010609060101010101" pitchFamily="49" charset="-122"/>
              </a:rPr>
              <a:t>2021Fall</a:t>
            </a:r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</a:rPr>
              <a:t>)</a:t>
            </a:r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</a:rPr>
              <a:t> ”</a:t>
            </a:r>
            <a:r>
              <a:rPr lang="en-US" altLang="zh-CN" sz="2000" b="1" dirty="0">
                <a:solidFill>
                  <a:srgbClr val="FF0000"/>
                </a:solidFill>
                <a:ea typeface="仿宋" panose="02010609060101010101" pitchFamily="49" charset="-122"/>
              </a:rPr>
              <a:t>732752940</a:t>
            </a:r>
          </a:p>
          <a:p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</a:rPr>
              <a:t>助教：</a:t>
            </a:r>
            <a:r>
              <a:rPr lang="zh-CN" altLang="en-US" sz="2000" b="1" dirty="0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黄炳森</a:t>
            </a:r>
            <a:endParaRPr lang="en-US" altLang="zh-CN" sz="2000" b="1" dirty="0">
              <a:solidFill>
                <a:srgbClr val="FF000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</a:rPr>
              <a:t>先修课程：</a:t>
            </a:r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</a:rPr>
              <a:t>《</a:t>
            </a:r>
            <a:r>
              <a:rPr lang="zh-CN" altLang="en-US" sz="2000" dirty="0">
                <a:ea typeface="仿宋" panose="02010609060101010101" pitchFamily="49" charset="-122"/>
              </a:rPr>
              <a:t>程序设计基础</a:t>
            </a:r>
            <a:r>
              <a:rPr lang="en-US" altLang="zh-CN" sz="2000" dirty="0">
                <a:ea typeface="仿宋" panose="02010609060101010101" pitchFamily="49" charset="-122"/>
              </a:rPr>
              <a:t>》</a:t>
            </a:r>
            <a:r>
              <a:rPr lang="zh-CN" altLang="en-US" sz="2000" dirty="0">
                <a:ea typeface="仿宋" panose="02010609060101010101" pitchFamily="49" charset="-122"/>
              </a:rPr>
              <a:t>或</a:t>
            </a:r>
            <a:r>
              <a:rPr lang="en-US" altLang="zh-CN" sz="2000" dirty="0">
                <a:ea typeface="仿宋" panose="02010609060101010101" pitchFamily="49" charset="-122"/>
              </a:rPr>
              <a:t>《</a:t>
            </a:r>
            <a:r>
              <a:rPr lang="zh-CN" altLang="en-US" sz="2000" dirty="0">
                <a:ea typeface="仿宋" panose="02010609060101010101" pitchFamily="49" charset="-122"/>
              </a:rPr>
              <a:t>面向对象程序设计</a:t>
            </a:r>
            <a:r>
              <a:rPr lang="en-US" altLang="zh-CN" sz="2000" dirty="0">
                <a:ea typeface="仿宋" panose="02010609060101010101" pitchFamily="49" charset="-122"/>
              </a:rPr>
              <a:t>》</a:t>
            </a:r>
            <a:endParaRPr lang="zh-CN" altLang="en-US" sz="20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</a:rPr>
              <a:t>开发环境：</a:t>
            </a:r>
            <a:r>
              <a:rPr lang="en-US" altLang="zh-CN" sz="2000" dirty="0">
                <a:ea typeface="仿宋" panose="02010609060101010101" pitchFamily="49" charset="-122"/>
              </a:rPr>
              <a:t>JDK, Eclipse/MyEclipse/IDEA, Apache Tomcat, MySQL</a:t>
            </a:r>
          </a:p>
          <a:p>
            <a:endParaRPr lang="en-US" altLang="zh-CN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3</a:t>
            </a:fld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5FCD8AB-6E03-4DF8-8645-0529AC5AA7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2200" y="620688"/>
            <a:ext cx="2152650" cy="2762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09663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zh-CN" altLang="en-US" sz="3200" dirty="0">
                <a:latin typeface="仿宋" panose="02010609060101010101" pitchFamily="49" charset="-122"/>
                <a:ea typeface="仿宋" panose="02010609060101010101" pitchFamily="49" charset="-122"/>
              </a:rPr>
              <a:t>课程信息（</a:t>
            </a:r>
            <a:r>
              <a:rPr lang="zh-CN" altLang="en-US" sz="3200" b="1" dirty="0">
                <a:solidFill>
                  <a:srgbClr val="0000FF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周五晚上班</a:t>
            </a:r>
            <a:r>
              <a:rPr lang="zh-CN" altLang="en-US" sz="3200" dirty="0">
                <a:latin typeface="仿宋" panose="02010609060101010101" pitchFamily="49" charset="-122"/>
                <a:ea typeface="仿宋" panose="02010609060101010101" pitchFamily="49" charset="-122"/>
              </a:rPr>
              <a:t>）</a:t>
            </a:r>
            <a:endParaRPr lang="en-US" sz="3200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</a:rPr>
              <a:t>基本信息：</a:t>
            </a:r>
            <a:endParaRPr lang="en-US" altLang="zh-CN" sz="20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lvl="1"/>
            <a:r>
              <a:rPr lang="zh-CN" altLang="en-US" sz="1600" dirty="0">
                <a:latin typeface="仿宋" panose="02010609060101010101" pitchFamily="49" charset="-122"/>
                <a:ea typeface="仿宋" panose="02010609060101010101" pitchFamily="49" charset="-122"/>
              </a:rPr>
              <a:t>课程号：</a:t>
            </a:r>
            <a:r>
              <a:rPr lang="en-US" altLang="zh-CN" sz="1600" dirty="0">
                <a:ea typeface="仿宋" panose="02010609060101010101" pitchFamily="49" charset="-122"/>
              </a:rPr>
              <a:t>150003004</a:t>
            </a:r>
            <a:r>
              <a:rPr lang="en-US" altLang="zh-CN" sz="1600" b="1" dirty="0">
                <a:solidFill>
                  <a:srgbClr val="0000FF"/>
                </a:solidFill>
                <a:ea typeface="仿宋" panose="02010609060101010101" pitchFamily="49" charset="-122"/>
              </a:rPr>
              <a:t>[02]</a:t>
            </a:r>
          </a:p>
          <a:p>
            <a:pPr lvl="1"/>
            <a:r>
              <a:rPr lang="zh-CN" altLang="en-US" sz="1600" dirty="0">
                <a:latin typeface="仿宋" panose="02010609060101010101" pitchFamily="49" charset="-122"/>
                <a:ea typeface="仿宋" panose="02010609060101010101" pitchFamily="49" charset="-122"/>
              </a:rPr>
              <a:t>课程名称：</a:t>
            </a:r>
            <a:r>
              <a:rPr lang="en-US" altLang="zh-CN" sz="1600" dirty="0">
                <a:ea typeface="仿宋" panose="02010609060101010101" pitchFamily="49" charset="-122"/>
              </a:rPr>
              <a:t>Java</a:t>
            </a:r>
            <a:r>
              <a:rPr lang="zh-CN" altLang="en-US" sz="1600" dirty="0">
                <a:latin typeface="仿宋" panose="02010609060101010101" pitchFamily="49" charset="-122"/>
                <a:ea typeface="仿宋" panose="02010609060101010101" pitchFamily="49" charset="-122"/>
              </a:rPr>
              <a:t>程序设计</a:t>
            </a:r>
            <a:endParaRPr lang="en-US" altLang="zh-CN" sz="16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lvl="1"/>
            <a:r>
              <a:rPr lang="zh-CN" altLang="en-US" sz="1600" dirty="0">
                <a:latin typeface="仿宋" panose="02010609060101010101" pitchFamily="49" charset="-122"/>
                <a:ea typeface="仿宋" panose="02010609060101010101" pitchFamily="49" charset="-122"/>
              </a:rPr>
              <a:t>课程类别：学科专业选修</a:t>
            </a:r>
          </a:p>
          <a:p>
            <a:pPr lvl="1"/>
            <a:r>
              <a:rPr lang="zh-CN" altLang="en-US" sz="1600" dirty="0">
                <a:latin typeface="仿宋" panose="02010609060101010101" pitchFamily="49" charset="-122"/>
                <a:ea typeface="仿宋" panose="02010609060101010101" pitchFamily="49" charset="-122"/>
              </a:rPr>
              <a:t>学分：</a:t>
            </a:r>
            <a:r>
              <a:rPr lang="en-US" altLang="zh-CN" sz="1600" dirty="0">
                <a:ea typeface="仿宋" panose="02010609060101010101" pitchFamily="49" charset="-122"/>
              </a:rPr>
              <a:t>3</a:t>
            </a:r>
            <a:r>
              <a:rPr lang="zh-CN" altLang="en-US" sz="1600" dirty="0">
                <a:latin typeface="仿宋" panose="02010609060101010101" pitchFamily="49" charset="-122"/>
                <a:ea typeface="仿宋" panose="02010609060101010101" pitchFamily="49" charset="-122"/>
              </a:rPr>
              <a:t>学分（理科学分）</a:t>
            </a:r>
          </a:p>
          <a:p>
            <a:pPr lvl="1"/>
            <a:r>
              <a:rPr lang="zh-CN" altLang="en-US" sz="1600" dirty="0">
                <a:latin typeface="仿宋" panose="02010609060101010101" pitchFamily="49" charset="-122"/>
                <a:ea typeface="仿宋" panose="02010609060101010101" pitchFamily="49" charset="-122"/>
              </a:rPr>
              <a:t>学时：</a:t>
            </a:r>
            <a:r>
              <a:rPr lang="en-US" altLang="zh-CN" sz="1600" dirty="0">
                <a:ea typeface="仿宋" panose="02010609060101010101" pitchFamily="49" charset="-122"/>
              </a:rPr>
              <a:t>72</a:t>
            </a:r>
            <a:r>
              <a:rPr lang="zh-CN" altLang="en-US" sz="1600" dirty="0">
                <a:latin typeface="仿宋" panose="02010609060101010101" pitchFamily="49" charset="-122"/>
                <a:ea typeface="仿宋" panose="02010609060101010101" pitchFamily="49" charset="-122"/>
              </a:rPr>
              <a:t>学时（</a:t>
            </a:r>
            <a:r>
              <a:rPr lang="en-US" altLang="zh-CN" sz="1600" dirty="0">
                <a:ea typeface="仿宋" panose="02010609060101010101" pitchFamily="49" charset="-122"/>
              </a:rPr>
              <a:t>36</a:t>
            </a:r>
            <a:r>
              <a:rPr lang="zh-CN" altLang="en-US" sz="1600" dirty="0">
                <a:latin typeface="仿宋" panose="02010609060101010101" pitchFamily="49" charset="-122"/>
                <a:ea typeface="仿宋" panose="02010609060101010101" pitchFamily="49" charset="-122"/>
              </a:rPr>
              <a:t>课堂</a:t>
            </a:r>
            <a:r>
              <a:rPr lang="en-US" altLang="zh-CN" sz="1600" dirty="0">
                <a:latin typeface="仿宋" panose="02010609060101010101" pitchFamily="49" charset="-122"/>
                <a:ea typeface="仿宋" panose="02010609060101010101" pitchFamily="49" charset="-122"/>
              </a:rPr>
              <a:t>+</a:t>
            </a:r>
            <a:r>
              <a:rPr lang="en-US" altLang="zh-CN" sz="1600" dirty="0">
                <a:ea typeface="仿宋" panose="02010609060101010101" pitchFamily="49" charset="-122"/>
              </a:rPr>
              <a:t>36</a:t>
            </a:r>
            <a:r>
              <a:rPr lang="zh-CN" altLang="en-US" sz="1600" dirty="0">
                <a:latin typeface="仿宋" panose="02010609060101010101" pitchFamily="49" charset="-122"/>
                <a:ea typeface="仿宋" panose="02010609060101010101" pitchFamily="49" charset="-122"/>
              </a:rPr>
              <a:t>实验）</a:t>
            </a:r>
          </a:p>
          <a:p>
            <a:pPr lvl="1"/>
            <a:r>
              <a:rPr lang="zh-CN" altLang="en-US" sz="1600" dirty="0">
                <a:latin typeface="仿宋" panose="02010609060101010101" pitchFamily="49" charset="-122"/>
                <a:ea typeface="仿宋" panose="02010609060101010101" pitchFamily="49" charset="-122"/>
              </a:rPr>
              <a:t>主选班级：</a:t>
            </a:r>
            <a:r>
              <a:rPr lang="en-US" altLang="zh-CN" sz="1600" b="1" dirty="0">
                <a:solidFill>
                  <a:srgbClr val="0000FF"/>
                </a:solidFill>
                <a:ea typeface="仿宋" panose="02010609060101010101" pitchFamily="49" charset="-122"/>
              </a:rPr>
              <a:t>2020</a:t>
            </a:r>
            <a:r>
              <a:rPr lang="zh-CN" altLang="en-US" sz="1600" b="1" dirty="0">
                <a:solidFill>
                  <a:srgbClr val="0000FF"/>
                </a:solidFill>
                <a:ea typeface="仿宋" panose="02010609060101010101" pitchFamily="49" charset="-122"/>
              </a:rPr>
              <a:t>计算机科学与技术</a:t>
            </a:r>
            <a:r>
              <a:rPr lang="en-US" altLang="zh-CN" sz="1600" b="1" dirty="0">
                <a:solidFill>
                  <a:srgbClr val="0000FF"/>
                </a:solidFill>
                <a:ea typeface="仿宋" panose="02010609060101010101" pitchFamily="49" charset="-122"/>
              </a:rPr>
              <a:t>04</a:t>
            </a:r>
            <a:r>
              <a:rPr lang="zh-CN" altLang="en-US" sz="1600" b="1" dirty="0">
                <a:solidFill>
                  <a:srgbClr val="0000FF"/>
                </a:solidFill>
                <a:ea typeface="仿宋" panose="02010609060101010101" pitchFamily="49" charset="-122"/>
              </a:rPr>
              <a:t>（计算机国际班），</a:t>
            </a:r>
            <a:r>
              <a:rPr lang="en-US" altLang="zh-CN" sz="1600" b="1" dirty="0">
                <a:solidFill>
                  <a:srgbClr val="0000FF"/>
                </a:solidFill>
                <a:ea typeface="仿宋" panose="02010609060101010101" pitchFamily="49" charset="-122"/>
              </a:rPr>
              <a:t>2020</a:t>
            </a:r>
            <a:r>
              <a:rPr lang="zh-CN" altLang="en-US" sz="1600" b="1" dirty="0">
                <a:solidFill>
                  <a:srgbClr val="0000FF"/>
                </a:solidFill>
                <a:ea typeface="仿宋" panose="02010609060101010101" pitchFamily="49" charset="-122"/>
              </a:rPr>
              <a:t>计算机科学与技术</a:t>
            </a:r>
            <a:r>
              <a:rPr lang="en-US" altLang="zh-CN" sz="1600" b="1" dirty="0">
                <a:solidFill>
                  <a:srgbClr val="0000FF"/>
                </a:solidFill>
                <a:ea typeface="仿宋" panose="02010609060101010101" pitchFamily="49" charset="-122"/>
              </a:rPr>
              <a:t>05</a:t>
            </a:r>
            <a:r>
              <a:rPr lang="zh-CN" altLang="en-US" sz="1600" b="1" dirty="0">
                <a:solidFill>
                  <a:srgbClr val="0000FF"/>
                </a:solidFill>
                <a:ea typeface="仿宋" panose="02010609060101010101" pitchFamily="49" charset="-122"/>
              </a:rPr>
              <a:t>（高性能计算特色班）</a:t>
            </a:r>
            <a:endParaRPr lang="en-US" altLang="zh-CN" sz="1600" b="1" dirty="0">
              <a:solidFill>
                <a:srgbClr val="0000FF"/>
              </a:solidFill>
              <a:ea typeface="仿宋" panose="02010609060101010101" pitchFamily="49" charset="-122"/>
            </a:endParaRPr>
          </a:p>
          <a:p>
            <a:pPr lvl="1"/>
            <a:r>
              <a:rPr lang="zh-CN" altLang="en-US" sz="1600" dirty="0">
                <a:latin typeface="仿宋" panose="02010609060101010101" pitchFamily="49" charset="-122"/>
                <a:ea typeface="仿宋" panose="02010609060101010101" pitchFamily="49" charset="-122"/>
              </a:rPr>
              <a:t>课堂：每</a:t>
            </a:r>
            <a:r>
              <a:rPr lang="zh-CN" altLang="en-US" sz="1600" dirty="0">
                <a:latin typeface="+mj-lt"/>
                <a:ea typeface="仿宋" panose="02010609060101010101" pitchFamily="49" charset="-122"/>
              </a:rPr>
              <a:t>周五</a:t>
            </a:r>
            <a:r>
              <a:rPr lang="zh-CN" altLang="en-US" sz="1600" b="1" dirty="0">
                <a:solidFill>
                  <a:srgbClr val="0000FF"/>
                </a:solidFill>
                <a:latin typeface="+mj-lt"/>
                <a:ea typeface="仿宋" panose="02010609060101010101" pitchFamily="49" charset="-122"/>
              </a:rPr>
              <a:t>第</a:t>
            </a:r>
            <a:r>
              <a:rPr lang="en-US" altLang="zh-CN" sz="1600" b="1" dirty="0">
                <a:solidFill>
                  <a:srgbClr val="0000FF"/>
                </a:solidFill>
                <a:latin typeface="+mj-lt"/>
                <a:ea typeface="仿宋" panose="02010609060101010101" pitchFamily="49" charset="-122"/>
              </a:rPr>
              <a:t>11-12</a:t>
            </a:r>
            <a:r>
              <a:rPr lang="zh-CN" altLang="en-US" sz="1600" b="1" dirty="0">
                <a:solidFill>
                  <a:srgbClr val="0000FF"/>
                </a:solidFill>
                <a:latin typeface="+mj-lt"/>
                <a:ea typeface="仿宋" panose="02010609060101010101" pitchFamily="49" charset="-122"/>
              </a:rPr>
              <a:t>节</a:t>
            </a:r>
            <a:r>
              <a:rPr lang="en-US" altLang="zh-CN" sz="1600" b="1" dirty="0">
                <a:solidFill>
                  <a:srgbClr val="0000FF"/>
                </a:solidFill>
                <a:latin typeface="+mj-lt"/>
                <a:ea typeface="仿宋" panose="02010609060101010101" pitchFamily="49" charset="-122"/>
              </a:rPr>
              <a:t>19:00-20:20</a:t>
            </a:r>
            <a:r>
              <a:rPr lang="zh-CN" altLang="en-US" sz="1600" dirty="0">
                <a:latin typeface="+mj-lt"/>
                <a:ea typeface="仿宋" panose="02010609060101010101" pitchFamily="49" charset="-122"/>
              </a:rPr>
              <a:t>，致理楼</a:t>
            </a:r>
            <a:r>
              <a:rPr lang="en-US" altLang="zh-CN" sz="1600" b="1" dirty="0">
                <a:solidFill>
                  <a:srgbClr val="0000FF"/>
                </a:solidFill>
                <a:latin typeface="+mj-lt"/>
                <a:ea typeface="仿宋" panose="02010609060101010101" pitchFamily="49" charset="-122"/>
              </a:rPr>
              <a:t>L2-410</a:t>
            </a:r>
            <a:r>
              <a:rPr lang="zh-CN" altLang="en-US" sz="1600" dirty="0">
                <a:latin typeface="+mj-lt"/>
                <a:ea typeface="仿宋" panose="02010609060101010101" pitchFamily="49" charset="-122"/>
              </a:rPr>
              <a:t>教室（远程互动型智慧教室，含丽湖校区选课学生“西</a:t>
            </a:r>
            <a:r>
              <a:rPr lang="en-US" altLang="zh-CN" sz="1600" dirty="0">
                <a:latin typeface="+mj-lt"/>
                <a:ea typeface="仿宋" panose="02010609060101010101" pitchFamily="49" charset="-122"/>
              </a:rPr>
              <a:t>-204</a:t>
            </a:r>
            <a:r>
              <a:rPr lang="zh-CN" altLang="en-US" sz="1600" dirty="0">
                <a:latin typeface="+mj-lt"/>
                <a:ea typeface="仿宋" panose="02010609060101010101" pitchFamily="49" charset="-122"/>
              </a:rPr>
              <a:t>”）</a:t>
            </a:r>
          </a:p>
          <a:p>
            <a:pPr lvl="1"/>
            <a:r>
              <a:rPr lang="zh-CN" altLang="en-US" sz="1600" dirty="0">
                <a:latin typeface="仿宋" panose="02010609060101010101" pitchFamily="49" charset="-122"/>
                <a:ea typeface="仿宋" panose="02010609060101010101" pitchFamily="49" charset="-122"/>
              </a:rPr>
              <a:t>实验：每周五</a:t>
            </a:r>
            <a:r>
              <a:rPr lang="zh-CN" altLang="en-US" sz="1600" b="1" dirty="0">
                <a:solidFill>
                  <a:srgbClr val="0000FF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第</a:t>
            </a:r>
            <a:r>
              <a:rPr lang="en-US" altLang="zh-CN" sz="1600" b="1" dirty="0">
                <a:solidFill>
                  <a:srgbClr val="0000FF"/>
                </a:solidFill>
                <a:ea typeface="仿宋" panose="02010609060101010101" pitchFamily="49" charset="-122"/>
              </a:rPr>
              <a:t>13-14</a:t>
            </a:r>
            <a:r>
              <a:rPr lang="zh-CN" altLang="en-US" sz="1600" b="1" dirty="0">
                <a:solidFill>
                  <a:srgbClr val="0000FF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节</a:t>
            </a:r>
            <a:r>
              <a:rPr lang="en-US" altLang="zh-CN" sz="1600" b="1" dirty="0">
                <a:solidFill>
                  <a:srgbClr val="0000FF"/>
                </a:solidFill>
                <a:ea typeface="仿宋" panose="02010609060101010101" pitchFamily="49" charset="-122"/>
              </a:rPr>
              <a:t>20:30-21:45</a:t>
            </a:r>
            <a:r>
              <a:rPr lang="zh-CN" altLang="en-US" sz="1600" dirty="0">
                <a:latin typeface="仿宋" panose="02010609060101010101" pitchFamily="49" charset="-122"/>
                <a:ea typeface="仿宋" panose="02010609060101010101" pitchFamily="49" charset="-122"/>
              </a:rPr>
              <a:t>，致腾楼</a:t>
            </a:r>
            <a:r>
              <a:rPr lang="en-US" altLang="zh-CN" sz="1600" b="1" dirty="0">
                <a:solidFill>
                  <a:srgbClr val="0000FF"/>
                </a:solidFill>
                <a:latin typeface="+mj-lt"/>
                <a:ea typeface="仿宋" panose="02010609060101010101" pitchFamily="49" charset="-122"/>
              </a:rPr>
              <a:t>326</a:t>
            </a:r>
            <a:r>
              <a:rPr lang="zh-CN" altLang="en-US" sz="1600" dirty="0">
                <a:latin typeface="仿宋" panose="02010609060101010101" pitchFamily="49" charset="-122"/>
                <a:ea typeface="仿宋" panose="02010609060101010101" pitchFamily="49" charset="-122"/>
              </a:rPr>
              <a:t>实验室</a:t>
            </a:r>
            <a:endParaRPr lang="en-US" altLang="zh-CN" sz="16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r>
              <a:rPr lang="en-US" altLang="zh-CN" sz="2000" dirty="0">
                <a:ea typeface="仿宋" panose="02010609060101010101" pitchFamily="49" charset="-122"/>
              </a:rPr>
              <a:t>QQ</a:t>
            </a:r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</a:rPr>
              <a:t>群：“</a:t>
            </a:r>
            <a:r>
              <a:rPr lang="en-US" altLang="zh-CN" sz="2000" dirty="0">
                <a:ea typeface="仿宋" panose="02010609060101010101" pitchFamily="49" charset="-122"/>
              </a:rPr>
              <a:t>Java</a:t>
            </a:r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</a:rPr>
              <a:t>程序设计</a:t>
            </a:r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</a:rPr>
              <a:t>【</a:t>
            </a:r>
            <a:r>
              <a:rPr lang="zh-CN" altLang="en-US" sz="2000">
                <a:latin typeface="仿宋" panose="02010609060101010101" pitchFamily="49" charset="-122"/>
                <a:ea typeface="仿宋" panose="02010609060101010101" pitchFamily="49" charset="-122"/>
              </a:rPr>
              <a:t>周五晚上班</a:t>
            </a:r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</a:rPr>
              <a:t>】(</a:t>
            </a:r>
            <a:r>
              <a:rPr lang="en-US" altLang="zh-CN" sz="2000" dirty="0">
                <a:ea typeface="仿宋" panose="02010609060101010101" pitchFamily="49" charset="-122"/>
              </a:rPr>
              <a:t>2021Fall</a:t>
            </a:r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</a:rPr>
              <a:t>)</a:t>
            </a:r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</a:rPr>
              <a:t> ”</a:t>
            </a:r>
            <a:r>
              <a:rPr lang="en-US" altLang="zh-CN" sz="2000" b="1" dirty="0">
                <a:solidFill>
                  <a:srgbClr val="0000FF"/>
                </a:solidFill>
              </a:rPr>
              <a:t>734707629</a:t>
            </a:r>
            <a:endParaRPr lang="en-US" altLang="zh-CN" sz="2000" b="1" dirty="0">
              <a:solidFill>
                <a:srgbClr val="FF0000"/>
              </a:solidFill>
              <a:ea typeface="仿宋" panose="02010609060101010101" pitchFamily="49" charset="-122"/>
            </a:endParaRPr>
          </a:p>
          <a:p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</a:rPr>
              <a:t>助教：</a:t>
            </a:r>
            <a:r>
              <a:rPr lang="zh-CN" altLang="en-US" sz="2000" b="1" dirty="0">
                <a:solidFill>
                  <a:srgbClr val="0000FF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羊恩跃</a:t>
            </a:r>
            <a:endParaRPr lang="en-US" altLang="zh-CN" sz="2000" b="1" dirty="0">
              <a:solidFill>
                <a:srgbClr val="0000FF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</a:rPr>
              <a:t>先修课程：</a:t>
            </a:r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</a:rPr>
              <a:t>《</a:t>
            </a:r>
            <a:r>
              <a:rPr lang="zh-CN" altLang="en-US" sz="2000" dirty="0">
                <a:ea typeface="仿宋" panose="02010609060101010101" pitchFamily="49" charset="-122"/>
              </a:rPr>
              <a:t>程序设计基础</a:t>
            </a:r>
            <a:r>
              <a:rPr lang="en-US" altLang="zh-CN" sz="2000" dirty="0">
                <a:ea typeface="仿宋" panose="02010609060101010101" pitchFamily="49" charset="-122"/>
              </a:rPr>
              <a:t>》</a:t>
            </a:r>
            <a:r>
              <a:rPr lang="zh-CN" altLang="en-US" sz="2000" dirty="0">
                <a:ea typeface="仿宋" panose="02010609060101010101" pitchFamily="49" charset="-122"/>
              </a:rPr>
              <a:t>或</a:t>
            </a:r>
            <a:r>
              <a:rPr lang="en-US" altLang="zh-CN" sz="2000" dirty="0">
                <a:ea typeface="仿宋" panose="02010609060101010101" pitchFamily="49" charset="-122"/>
              </a:rPr>
              <a:t>《</a:t>
            </a:r>
            <a:r>
              <a:rPr lang="zh-CN" altLang="en-US" sz="2000" dirty="0">
                <a:ea typeface="仿宋" panose="02010609060101010101" pitchFamily="49" charset="-122"/>
              </a:rPr>
              <a:t>面向对象程序设计</a:t>
            </a:r>
            <a:r>
              <a:rPr lang="en-US" altLang="zh-CN" sz="2000" dirty="0">
                <a:ea typeface="仿宋" panose="02010609060101010101" pitchFamily="49" charset="-122"/>
              </a:rPr>
              <a:t>》</a:t>
            </a:r>
            <a:endParaRPr lang="zh-CN" altLang="en-US" sz="20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</a:rPr>
              <a:t>开发环境：</a:t>
            </a:r>
            <a:r>
              <a:rPr lang="en-US" altLang="zh-CN" sz="2000" dirty="0">
                <a:ea typeface="仿宋" panose="02010609060101010101" pitchFamily="49" charset="-122"/>
              </a:rPr>
              <a:t>JDK, Eclipse/MyEclipse/IDEA, Apache Tomcat, MySQL</a:t>
            </a:r>
          </a:p>
          <a:p>
            <a:endParaRPr lang="en-US" altLang="zh-CN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4</a:t>
            </a:fld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12B9A04C-DA31-4FD5-8D97-641069AC8D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2200" y="611176"/>
            <a:ext cx="2152650" cy="2762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50602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zh-CN" altLang="en-US" sz="3200" dirty="0">
                <a:latin typeface="仿宋" panose="02010609060101010101" pitchFamily="49" charset="-122"/>
                <a:ea typeface="仿宋" panose="02010609060101010101" pitchFamily="49" charset="-122"/>
              </a:rPr>
              <a:t>教材</a:t>
            </a:r>
            <a:r>
              <a:rPr lang="en-US" altLang="zh-CN" sz="3200" dirty="0">
                <a:latin typeface="仿宋" panose="02010609060101010101" pitchFamily="49" charset="-122"/>
                <a:ea typeface="仿宋" panose="02010609060101010101" pitchFamily="49" charset="-122"/>
              </a:rPr>
              <a:t>(</a:t>
            </a:r>
            <a:r>
              <a:rPr lang="en-US" altLang="zh-CN" sz="3200" dirty="0">
                <a:latin typeface="+mn-lt"/>
                <a:ea typeface="仿宋" panose="02010609060101010101" pitchFamily="49" charset="-122"/>
              </a:rPr>
              <a:t>1/5</a:t>
            </a:r>
            <a:r>
              <a:rPr lang="en-US" altLang="zh-CN" sz="3200" dirty="0">
                <a:latin typeface="仿宋" panose="02010609060101010101" pitchFamily="49" charset="-122"/>
                <a:ea typeface="仿宋" panose="02010609060101010101" pitchFamily="49" charset="-122"/>
              </a:rPr>
              <a:t>)</a:t>
            </a:r>
            <a:endParaRPr lang="zh-CN" altLang="en-US" sz="32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000" dirty="0"/>
              <a:t>UOOC</a:t>
            </a:r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</a:rPr>
              <a:t>联盟指定参考书（深圳大学教材出版基金资助）</a:t>
            </a:r>
            <a:r>
              <a:rPr lang="zh-CN" altLang="en-US" sz="2000" dirty="0"/>
              <a:t>：</a:t>
            </a:r>
            <a:endParaRPr lang="en-US" altLang="zh-CN" sz="2000" dirty="0"/>
          </a:p>
          <a:p>
            <a:pPr lvl="1"/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</a:rPr>
              <a:t>张席</a:t>
            </a:r>
            <a:r>
              <a:rPr lang="en-US" altLang="zh-CN" sz="2000" dirty="0"/>
              <a:t>. 《</a:t>
            </a:r>
            <a:r>
              <a:rPr lang="en-US" altLang="zh-CN" sz="2000" dirty="0">
                <a:solidFill>
                  <a:srgbClr val="FF0000"/>
                </a:solidFill>
              </a:rPr>
              <a:t>Java</a:t>
            </a:r>
            <a:r>
              <a:rPr lang="zh-CN" altLang="en-US" sz="2000" dirty="0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语言程序设计教程</a:t>
            </a:r>
            <a:r>
              <a:rPr lang="en-US" altLang="zh-CN" sz="2000" dirty="0"/>
              <a:t>》.</a:t>
            </a:r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</a:rPr>
              <a:t>西安电子科技大学出版社</a:t>
            </a:r>
            <a:r>
              <a:rPr lang="en-US" altLang="zh-CN" sz="2000" dirty="0"/>
              <a:t>, 2015.8.</a:t>
            </a:r>
          </a:p>
        </p:txBody>
      </p:sp>
      <p:pic>
        <p:nvPicPr>
          <p:cNvPr id="5" name="Picture 2" descr="C:\Users\panweike\Desktop\523427806898893501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474778" y="116632"/>
            <a:ext cx="1057662" cy="15841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5222594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055BD2A9-EE14-46CE-80B2-1A171EC0395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7298" y="116633"/>
            <a:ext cx="1171385" cy="158417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zh-CN" altLang="en-US" sz="3200" dirty="0">
                <a:latin typeface="仿宋" panose="02010609060101010101" pitchFamily="49" charset="-122"/>
                <a:ea typeface="仿宋" panose="02010609060101010101" pitchFamily="49" charset="-122"/>
              </a:rPr>
              <a:t>教材</a:t>
            </a:r>
            <a:r>
              <a:rPr lang="en-US" altLang="zh-CN" sz="3200" dirty="0">
                <a:latin typeface="仿宋" panose="02010609060101010101" pitchFamily="49" charset="-122"/>
                <a:ea typeface="仿宋" panose="02010609060101010101" pitchFamily="49" charset="-122"/>
              </a:rPr>
              <a:t>(</a:t>
            </a:r>
            <a:r>
              <a:rPr lang="en-US" altLang="zh-CN" sz="3200" dirty="0">
                <a:latin typeface="+mn-lt"/>
                <a:ea typeface="仿宋" panose="02010609060101010101" pitchFamily="49" charset="-122"/>
              </a:rPr>
              <a:t>2/5</a:t>
            </a:r>
            <a:r>
              <a:rPr lang="en-US" altLang="zh-CN" sz="3200" dirty="0">
                <a:latin typeface="仿宋" panose="02010609060101010101" pitchFamily="49" charset="-122"/>
                <a:ea typeface="仿宋" panose="02010609060101010101" pitchFamily="49" charset="-122"/>
              </a:rPr>
              <a:t>)</a:t>
            </a:r>
            <a:endParaRPr lang="en-US" sz="3200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</a:rPr>
              <a:t>教材：</a:t>
            </a:r>
            <a:endParaRPr lang="en-US" altLang="zh-CN" sz="20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lvl="1"/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</a:rPr>
              <a:t>耿详义</a:t>
            </a:r>
            <a:r>
              <a:rPr lang="en-US" altLang="zh-CN" sz="2000" dirty="0">
                <a:ea typeface="仿宋" panose="02010609060101010101" pitchFamily="49" charset="-122"/>
              </a:rPr>
              <a:t>.</a:t>
            </a:r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</a:rPr>
              <a:t>《</a:t>
            </a:r>
            <a:r>
              <a:rPr lang="en-US" altLang="zh-CN" sz="2000" b="1" dirty="0">
                <a:solidFill>
                  <a:srgbClr val="0000FF"/>
                </a:solidFill>
                <a:ea typeface="仿宋" panose="02010609060101010101" pitchFamily="49" charset="-122"/>
              </a:rPr>
              <a:t>Java</a:t>
            </a:r>
            <a:r>
              <a:rPr lang="zh-CN" altLang="en-US" sz="2000" b="1" dirty="0">
                <a:solidFill>
                  <a:srgbClr val="0000FF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大学实用教程</a:t>
            </a:r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</a:rPr>
              <a:t>》</a:t>
            </a:r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</a:rPr>
              <a:t>（第</a:t>
            </a:r>
            <a:r>
              <a:rPr lang="en-US" altLang="zh-CN" sz="2000" dirty="0">
                <a:latin typeface="+mj-lt"/>
                <a:ea typeface="仿宋" panose="02010609060101010101" pitchFamily="49" charset="-122"/>
              </a:rPr>
              <a:t>4</a:t>
            </a:r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</a:rPr>
              <a:t>版）</a:t>
            </a:r>
            <a:r>
              <a:rPr lang="en-US" altLang="zh-CN" sz="2000" dirty="0">
                <a:ea typeface="仿宋" panose="02010609060101010101" pitchFamily="49" charset="-122"/>
              </a:rPr>
              <a:t>. </a:t>
            </a:r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</a:rPr>
              <a:t>电子工业出版社</a:t>
            </a:r>
            <a:r>
              <a:rPr lang="en-US" altLang="zh-CN" sz="2000" dirty="0">
                <a:ea typeface="仿宋" panose="02010609060101010101" pitchFamily="49" charset="-122"/>
              </a:rPr>
              <a:t>, 2017.3</a:t>
            </a:r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</a:rPr>
              <a:t>.</a:t>
            </a:r>
          </a:p>
          <a:p>
            <a:pPr lvl="1"/>
            <a:endParaRPr lang="en-US" altLang="zh-CN" sz="20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lvl="1"/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</a:rPr>
              <a:t>张跃平</a:t>
            </a:r>
            <a:r>
              <a:rPr lang="en-US" altLang="zh-CN" sz="2000" dirty="0">
                <a:ea typeface="仿宋" panose="02010609060101010101" pitchFamily="49" charset="-122"/>
              </a:rPr>
              <a:t>,</a:t>
            </a:r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</a:rPr>
              <a:t>耿祥义</a:t>
            </a:r>
            <a:r>
              <a:rPr lang="en-US" altLang="zh-CN" sz="2000" dirty="0">
                <a:ea typeface="仿宋" panose="02010609060101010101" pitchFamily="49" charset="-122"/>
              </a:rPr>
              <a:t>,</a:t>
            </a:r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</a:rPr>
              <a:t>雷金娥</a:t>
            </a:r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</a:rPr>
              <a:t>.《</a:t>
            </a:r>
            <a:r>
              <a:rPr lang="en-US" altLang="zh-CN" sz="2000" dirty="0">
                <a:ea typeface="仿宋" panose="02010609060101010101" pitchFamily="49" charset="-122"/>
              </a:rPr>
              <a:t>Java</a:t>
            </a:r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</a:rPr>
              <a:t>大学实用教程学习指导</a:t>
            </a:r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</a:rPr>
              <a:t>》</a:t>
            </a:r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</a:rPr>
              <a:t>（第</a:t>
            </a:r>
            <a:r>
              <a:rPr lang="en-US" altLang="zh-CN" sz="2000" dirty="0">
                <a:ea typeface="仿宋" panose="02010609060101010101" pitchFamily="49" charset="-122"/>
              </a:rPr>
              <a:t>3</a:t>
            </a:r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</a:rPr>
              <a:t>版）</a:t>
            </a:r>
            <a:r>
              <a:rPr lang="en-US" altLang="zh-CN" sz="2000" dirty="0">
                <a:ea typeface="仿宋" panose="02010609060101010101" pitchFamily="49" charset="-122"/>
              </a:rPr>
              <a:t>. </a:t>
            </a:r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</a:rPr>
              <a:t>电子工业出版社</a:t>
            </a:r>
            <a:r>
              <a:rPr lang="en-US" altLang="zh-CN" sz="2000" dirty="0">
                <a:ea typeface="仿宋" panose="02010609060101010101" pitchFamily="49" charset="-122"/>
              </a:rPr>
              <a:t>, 2012.8</a:t>
            </a:r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</a:rPr>
              <a:t>.</a:t>
            </a:r>
          </a:p>
          <a:p>
            <a:endParaRPr lang="en-US" altLang="zh-CN" sz="20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endParaRPr lang="en-US" altLang="zh-CN" sz="2000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6</a:t>
            </a:fld>
            <a:endParaRPr lang="zh-CN" altLang="en-US"/>
          </a:p>
        </p:txBody>
      </p:sp>
      <p:pic>
        <p:nvPicPr>
          <p:cNvPr id="2054" name="Picture 6" descr="http://218.249.32.138/covers/9787121173141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61772" y="116633"/>
            <a:ext cx="1126652" cy="1584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602804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zh-CN" altLang="en-US" sz="3200" dirty="0">
                <a:latin typeface="仿宋" panose="02010609060101010101" pitchFamily="49" charset="-122"/>
                <a:ea typeface="仿宋" panose="02010609060101010101" pitchFamily="49" charset="-122"/>
              </a:rPr>
              <a:t>教材</a:t>
            </a:r>
            <a:r>
              <a:rPr lang="en-US" altLang="zh-CN" sz="3200" dirty="0">
                <a:latin typeface="仿宋" panose="02010609060101010101" pitchFamily="49" charset="-122"/>
                <a:ea typeface="仿宋" panose="02010609060101010101" pitchFamily="49" charset="-122"/>
              </a:rPr>
              <a:t>(</a:t>
            </a:r>
            <a:r>
              <a:rPr lang="en-US" altLang="zh-CN" sz="3200" dirty="0">
                <a:latin typeface="+mn-lt"/>
                <a:ea typeface="仿宋" panose="02010609060101010101" pitchFamily="49" charset="-122"/>
              </a:rPr>
              <a:t>3/5</a:t>
            </a:r>
            <a:r>
              <a:rPr lang="en-US" altLang="zh-CN" sz="3200" dirty="0">
                <a:latin typeface="仿宋" panose="02010609060101010101" pitchFamily="49" charset="-122"/>
                <a:ea typeface="仿宋" panose="02010609060101010101" pitchFamily="49" charset="-122"/>
              </a:rPr>
              <a:t>)</a:t>
            </a:r>
            <a:endParaRPr lang="en-US" sz="3200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</a:rPr>
              <a:t>参考教材：</a:t>
            </a:r>
            <a:endParaRPr lang="en-US" altLang="zh-CN" sz="20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lvl="1"/>
            <a:r>
              <a:rPr lang="en-US" altLang="zh-CN" sz="2000" dirty="0">
                <a:ea typeface="仿宋" panose="02010609060101010101" pitchFamily="49" charset="-122"/>
              </a:rPr>
              <a:t>Y. Daniel Liang, Margaret L. </a:t>
            </a:r>
            <a:r>
              <a:rPr lang="en-US" altLang="zh-CN" sz="2000" dirty="0" err="1">
                <a:ea typeface="仿宋" panose="02010609060101010101" pitchFamily="49" charset="-122"/>
              </a:rPr>
              <a:t>Lial</a:t>
            </a:r>
            <a:r>
              <a:rPr lang="en-US" altLang="zh-CN" sz="2000" dirty="0">
                <a:ea typeface="仿宋" panose="02010609060101010101" pitchFamily="49" charset="-122"/>
              </a:rPr>
              <a:t>. </a:t>
            </a:r>
            <a:r>
              <a:rPr lang="en-US" altLang="zh-CN" sz="2000" b="1" dirty="0">
                <a:latin typeface="+mj-lt"/>
                <a:ea typeface="仿宋" panose="02010609060101010101" pitchFamily="49" charset="-122"/>
              </a:rPr>
              <a:t>Introduction to Java Programming and Data Structures</a:t>
            </a:r>
            <a:r>
              <a:rPr lang="en-US" altLang="zh-CN" sz="2000" dirty="0">
                <a:latin typeface="+mj-lt"/>
                <a:ea typeface="仿宋" panose="02010609060101010101" pitchFamily="49" charset="-122"/>
              </a:rPr>
              <a:t>, Comprehensive Version (</a:t>
            </a:r>
            <a:r>
              <a:rPr lang="en-US" altLang="zh-CN" sz="2000" b="1" dirty="0">
                <a:solidFill>
                  <a:srgbClr val="FF0000"/>
                </a:solidFill>
                <a:latin typeface="+mj-lt"/>
                <a:ea typeface="仿宋" panose="02010609060101010101" pitchFamily="49" charset="-122"/>
              </a:rPr>
              <a:t>12th Edition</a:t>
            </a:r>
            <a:r>
              <a:rPr lang="en-US" altLang="zh-CN" sz="2000" dirty="0">
                <a:latin typeface="+mj-lt"/>
                <a:ea typeface="仿宋" panose="02010609060101010101" pitchFamily="49" charset="-122"/>
              </a:rPr>
              <a:t>). </a:t>
            </a:r>
            <a:r>
              <a:rPr lang="en-US" altLang="zh-CN" sz="2000" dirty="0"/>
              <a:t>Pearson,  2019.12.</a:t>
            </a:r>
            <a:endParaRPr lang="en-US" altLang="zh-CN" sz="2000" dirty="0">
              <a:latin typeface="+mj-lt"/>
              <a:ea typeface="仿宋" panose="02010609060101010101" pitchFamily="49" charset="-122"/>
            </a:endParaRPr>
          </a:p>
          <a:p>
            <a:pPr lvl="1"/>
            <a:endParaRPr lang="en-US" altLang="zh-CN" sz="2000" dirty="0">
              <a:latin typeface="+mj-lt"/>
              <a:ea typeface="仿宋" panose="02010609060101010101" pitchFamily="49" charset="-122"/>
            </a:endParaRPr>
          </a:p>
          <a:p>
            <a:pPr lvl="1">
              <a:buNone/>
            </a:pPr>
            <a:r>
              <a:rPr lang="zh-CN" altLang="en-US" sz="2000" dirty="0">
                <a:latin typeface="+mj-lt"/>
                <a:ea typeface="仿宋" panose="02010609060101010101" pitchFamily="49" charset="-122"/>
              </a:rPr>
              <a:t>英文影印版：</a:t>
            </a:r>
            <a:endParaRPr lang="en-US" altLang="zh-CN" sz="2000" dirty="0">
              <a:latin typeface="+mj-lt"/>
              <a:ea typeface="仿宋" panose="02010609060101010101" pitchFamily="49" charset="-122"/>
            </a:endParaRPr>
          </a:p>
          <a:p>
            <a:pPr lvl="1"/>
            <a:r>
              <a:rPr lang="en-US" altLang="zh-CN" sz="2000" dirty="0">
                <a:latin typeface="+mj-lt"/>
                <a:ea typeface="仿宋" panose="02010609060101010101" pitchFamily="49" charset="-122"/>
              </a:rPr>
              <a:t>Y. Daniel Liang. </a:t>
            </a:r>
            <a:r>
              <a:rPr lang="en-US" altLang="zh-CN" sz="2000" b="1" dirty="0">
                <a:solidFill>
                  <a:srgbClr val="0000FF"/>
                </a:solidFill>
                <a:latin typeface="+mj-lt"/>
                <a:ea typeface="仿宋" panose="02010609060101010101" pitchFamily="49" charset="-122"/>
              </a:rPr>
              <a:t>Java</a:t>
            </a:r>
            <a:r>
              <a:rPr lang="zh-CN" altLang="en-US" sz="2000" b="1" dirty="0">
                <a:solidFill>
                  <a:srgbClr val="0000FF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语言程序设计</a:t>
            </a:r>
            <a:r>
              <a:rPr lang="en-US" altLang="zh-CN" sz="2000" b="1" dirty="0">
                <a:solidFill>
                  <a:srgbClr val="0000FF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:</a:t>
            </a:r>
            <a:r>
              <a:rPr lang="zh-CN" altLang="en-US" sz="2000" b="1" dirty="0">
                <a:solidFill>
                  <a:srgbClr val="0000FF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基础篇</a:t>
            </a:r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</a:rPr>
              <a:t>（英文版</a:t>
            </a:r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</a:rPr>
              <a:t> </a:t>
            </a:r>
            <a:r>
              <a:rPr lang="zh-CN" altLang="en-US" sz="2000" b="1" dirty="0">
                <a:solidFill>
                  <a:srgbClr val="0000FF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第</a:t>
            </a:r>
            <a:r>
              <a:rPr lang="en-US" altLang="zh-CN" sz="2000" b="1" dirty="0">
                <a:solidFill>
                  <a:srgbClr val="0000FF"/>
                </a:solidFill>
                <a:ea typeface="仿宋" panose="02010609060101010101" pitchFamily="49" charset="-122"/>
              </a:rPr>
              <a:t>11</a:t>
            </a:r>
            <a:r>
              <a:rPr lang="zh-CN" altLang="en-US" sz="2000" b="1" dirty="0">
                <a:solidFill>
                  <a:srgbClr val="0000FF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版</a:t>
            </a:r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</a:rPr>
              <a:t>）</a:t>
            </a:r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</a:rPr>
              <a:t>.</a:t>
            </a:r>
            <a:r>
              <a:rPr lang="en-US" altLang="zh-CN" sz="2000" dirty="0">
                <a:ea typeface="仿宋" panose="02010609060101010101" pitchFamily="49" charset="-122"/>
              </a:rPr>
              <a:t> </a:t>
            </a:r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</a:rPr>
              <a:t>机械工业出版社</a:t>
            </a:r>
            <a:r>
              <a:rPr lang="en-US" altLang="zh-CN" sz="2000" dirty="0">
                <a:ea typeface="仿宋" panose="02010609060101010101" pitchFamily="49" charset="-122"/>
              </a:rPr>
              <a:t>, 2020.6</a:t>
            </a:r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</a:rPr>
              <a:t>.</a:t>
            </a:r>
          </a:p>
          <a:p>
            <a:pPr lvl="1"/>
            <a:r>
              <a:rPr lang="en-US" altLang="zh-CN" sz="2000" dirty="0">
                <a:ea typeface="仿宋" panose="02010609060101010101" pitchFamily="49" charset="-122"/>
              </a:rPr>
              <a:t>Y. Daniel Liang. </a:t>
            </a:r>
            <a:r>
              <a:rPr lang="en-US" altLang="zh-CN" sz="2000" b="1" dirty="0">
                <a:solidFill>
                  <a:srgbClr val="0000FF"/>
                </a:solidFill>
                <a:ea typeface="仿宋" panose="02010609060101010101" pitchFamily="49" charset="-122"/>
              </a:rPr>
              <a:t>Java</a:t>
            </a:r>
            <a:r>
              <a:rPr lang="zh-CN" altLang="en-US" sz="2000" b="1" dirty="0">
                <a:solidFill>
                  <a:srgbClr val="0000FF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语言程序设计与数据结构</a:t>
            </a:r>
            <a:r>
              <a:rPr lang="en-US" altLang="zh-CN" sz="2000" b="1" dirty="0">
                <a:solidFill>
                  <a:srgbClr val="0000FF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:</a:t>
            </a:r>
            <a:r>
              <a:rPr lang="zh-CN" altLang="en-US" sz="2000" b="1" dirty="0">
                <a:solidFill>
                  <a:srgbClr val="0000FF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进阶篇</a:t>
            </a:r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</a:rPr>
              <a:t>（英文版</a:t>
            </a:r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</a:rPr>
              <a:t> </a:t>
            </a:r>
            <a:r>
              <a:rPr lang="zh-CN" altLang="en-US" sz="2000" b="1" dirty="0">
                <a:solidFill>
                  <a:srgbClr val="0000FF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第</a:t>
            </a:r>
            <a:r>
              <a:rPr lang="en-US" altLang="zh-CN" sz="2000" b="1" dirty="0">
                <a:solidFill>
                  <a:srgbClr val="0000FF"/>
                </a:solidFill>
                <a:ea typeface="仿宋" panose="02010609060101010101" pitchFamily="49" charset="-122"/>
              </a:rPr>
              <a:t>11</a:t>
            </a:r>
            <a:r>
              <a:rPr lang="zh-CN" altLang="en-US" sz="2000" b="1" dirty="0">
                <a:solidFill>
                  <a:srgbClr val="0000FF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版</a:t>
            </a:r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</a:rPr>
              <a:t>）</a:t>
            </a:r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</a:rPr>
              <a:t>.</a:t>
            </a:r>
            <a:r>
              <a:rPr lang="en-US" altLang="zh-CN" sz="2000" dirty="0">
                <a:ea typeface="仿宋" panose="02010609060101010101" pitchFamily="49" charset="-122"/>
              </a:rPr>
              <a:t> </a:t>
            </a:r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</a:rPr>
              <a:t>机械工业出版社</a:t>
            </a:r>
            <a:r>
              <a:rPr lang="en-US" altLang="zh-CN" sz="2000" dirty="0">
                <a:ea typeface="仿宋" panose="02010609060101010101" pitchFamily="49" charset="-122"/>
              </a:rPr>
              <a:t>, 2020.6</a:t>
            </a:r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</a:rPr>
              <a:t>.</a:t>
            </a:r>
          </a:p>
          <a:p>
            <a:endParaRPr lang="en-US" altLang="zh-CN" sz="2000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7</a:t>
            </a:fld>
            <a:endParaRPr lang="zh-CN" altLang="en-US"/>
          </a:p>
        </p:txBody>
      </p:sp>
      <p:sp>
        <p:nvSpPr>
          <p:cNvPr id="7" name="AutoShape 2" descr="Pearson eText for Introduction to Java Programming and Data Structures, Comprehensive Version -- Instant Access">
            <a:extLst>
              <a:ext uri="{FF2B5EF4-FFF2-40B4-BE49-F238E27FC236}">
                <a16:creationId xmlns:a16="http://schemas.microsoft.com/office/drawing/2014/main" id="{DD79757F-7DE7-44A6-82D1-D009BAFE6AB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224CC32A-E0D7-42F9-A22E-407E18AC7C1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2161" y="115494"/>
            <a:ext cx="1210408" cy="1557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3091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zh-CN" altLang="en-US" sz="3200" dirty="0">
                <a:latin typeface="仿宋" panose="02010609060101010101" pitchFamily="49" charset="-122"/>
                <a:ea typeface="仿宋" panose="02010609060101010101" pitchFamily="49" charset="-122"/>
              </a:rPr>
              <a:t>教材</a:t>
            </a:r>
            <a:r>
              <a:rPr lang="en-US" altLang="zh-CN" sz="3200" dirty="0">
                <a:latin typeface="仿宋" panose="02010609060101010101" pitchFamily="49" charset="-122"/>
                <a:ea typeface="仿宋" panose="02010609060101010101" pitchFamily="49" charset="-122"/>
              </a:rPr>
              <a:t>(</a:t>
            </a:r>
            <a:r>
              <a:rPr lang="en-US" altLang="zh-CN" sz="3200" dirty="0">
                <a:latin typeface="+mn-lt"/>
                <a:ea typeface="仿宋" panose="02010609060101010101" pitchFamily="49" charset="-122"/>
              </a:rPr>
              <a:t>4/5</a:t>
            </a:r>
            <a:r>
              <a:rPr lang="en-US" altLang="zh-CN" sz="3200" dirty="0">
                <a:latin typeface="仿宋" panose="02010609060101010101" pitchFamily="49" charset="-122"/>
                <a:ea typeface="仿宋" panose="02010609060101010101" pitchFamily="49" charset="-122"/>
              </a:rPr>
              <a:t>)</a:t>
            </a:r>
            <a:endParaRPr lang="en-US" sz="3200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</a:rPr>
              <a:t>其他教材：</a:t>
            </a:r>
            <a:endParaRPr lang="en-US" altLang="zh-CN" sz="20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lvl="1"/>
            <a:r>
              <a:rPr lang="en-US" altLang="zh-CN" sz="2000" dirty="0">
                <a:ea typeface="仿宋" panose="02010609060101010101" pitchFamily="49" charset="-122"/>
              </a:rPr>
              <a:t>Cay S. </a:t>
            </a:r>
            <a:r>
              <a:rPr lang="en-US" altLang="zh-CN" sz="2000" dirty="0" err="1">
                <a:ea typeface="仿宋" panose="02010609060101010101" pitchFamily="49" charset="-122"/>
              </a:rPr>
              <a:t>Horstmann</a:t>
            </a:r>
            <a:r>
              <a:rPr lang="en-US" altLang="zh-CN" sz="2000" dirty="0">
                <a:ea typeface="仿宋" panose="02010609060101010101" pitchFamily="49" charset="-122"/>
              </a:rPr>
              <a:t>. </a:t>
            </a:r>
            <a:r>
              <a:rPr lang="en-US" altLang="zh-CN" sz="2000" b="1" dirty="0">
                <a:ea typeface="仿宋" panose="02010609060101010101" pitchFamily="49" charset="-122"/>
              </a:rPr>
              <a:t>Core Java Volume I--Fundamentals </a:t>
            </a:r>
            <a:r>
              <a:rPr lang="en-US" altLang="zh-CN" sz="2000" dirty="0">
                <a:ea typeface="仿宋" panose="02010609060101010101" pitchFamily="49" charset="-122"/>
              </a:rPr>
              <a:t>(10th Edition). Prentice Hall. 2016.1.</a:t>
            </a:r>
            <a:r>
              <a:rPr lang="zh-CN" altLang="en-US" sz="2000" dirty="0">
                <a:ea typeface="仿宋" panose="02010609060101010101" pitchFamily="49" charset="-122"/>
              </a:rPr>
              <a:t>（人民邮电出版社</a:t>
            </a:r>
            <a:r>
              <a:rPr lang="en-US" altLang="zh-CN" sz="2000" dirty="0">
                <a:ea typeface="仿宋" panose="02010609060101010101" pitchFamily="49" charset="-122"/>
              </a:rPr>
              <a:t>2016.6</a:t>
            </a:r>
            <a:r>
              <a:rPr lang="zh-CN" altLang="en-US" sz="2000" dirty="0">
                <a:ea typeface="仿宋" panose="02010609060101010101" pitchFamily="49" charset="-122"/>
              </a:rPr>
              <a:t>出版了英文影印版）</a:t>
            </a:r>
            <a:endParaRPr lang="en-US" altLang="zh-CN" sz="2000" dirty="0">
              <a:ea typeface="仿宋" panose="02010609060101010101" pitchFamily="49" charset="-122"/>
            </a:endParaRPr>
          </a:p>
          <a:p>
            <a:pPr lvl="1"/>
            <a:r>
              <a:rPr lang="en-US" altLang="zh-CN" sz="2000" dirty="0">
                <a:ea typeface="仿宋" panose="02010609060101010101" pitchFamily="49" charset="-122"/>
              </a:rPr>
              <a:t>Cay S. </a:t>
            </a:r>
            <a:r>
              <a:rPr lang="en-US" altLang="zh-CN" sz="2000" dirty="0" err="1">
                <a:ea typeface="仿宋" panose="02010609060101010101" pitchFamily="49" charset="-122"/>
              </a:rPr>
              <a:t>Horstmann</a:t>
            </a:r>
            <a:r>
              <a:rPr lang="en-US" altLang="zh-CN" sz="2000" dirty="0">
                <a:ea typeface="仿宋" panose="02010609060101010101" pitchFamily="49" charset="-122"/>
              </a:rPr>
              <a:t>. </a:t>
            </a:r>
            <a:r>
              <a:rPr lang="en-US" altLang="zh-CN" sz="2000" b="1" dirty="0">
                <a:ea typeface="仿宋" panose="02010609060101010101" pitchFamily="49" charset="-122"/>
              </a:rPr>
              <a:t>Core Java, Volume II--Advanced Features </a:t>
            </a:r>
            <a:r>
              <a:rPr lang="en-US" altLang="zh-CN" sz="2000" dirty="0">
                <a:ea typeface="仿宋" panose="02010609060101010101" pitchFamily="49" charset="-122"/>
              </a:rPr>
              <a:t>(10th Edition). Prentice Hall. 2016.12. </a:t>
            </a:r>
            <a:r>
              <a:rPr lang="zh-CN" altLang="en-US" sz="2000" dirty="0">
                <a:ea typeface="仿宋" panose="02010609060101010101" pitchFamily="49" charset="-122"/>
              </a:rPr>
              <a:t>（人民邮电出版社</a:t>
            </a:r>
            <a:r>
              <a:rPr lang="en-US" altLang="zh-CN" sz="2000" dirty="0">
                <a:ea typeface="仿宋" panose="02010609060101010101" pitchFamily="49" charset="-122"/>
              </a:rPr>
              <a:t>2017.6</a:t>
            </a:r>
            <a:r>
              <a:rPr lang="zh-CN" altLang="en-US" sz="2000" dirty="0">
                <a:ea typeface="仿宋" panose="02010609060101010101" pitchFamily="49" charset="-122"/>
              </a:rPr>
              <a:t>出版了英文影印版）</a:t>
            </a:r>
            <a:endParaRPr lang="en-US" altLang="zh-CN" sz="2000" dirty="0">
              <a:ea typeface="仿宋" panose="02010609060101010101" pitchFamily="49" charset="-122"/>
            </a:endParaRPr>
          </a:p>
          <a:p>
            <a:pPr lvl="1"/>
            <a:endParaRPr lang="en-US" altLang="zh-CN" sz="2000" dirty="0">
              <a:ea typeface="仿宋" panose="02010609060101010101" pitchFamily="49" charset="-122"/>
            </a:endParaRPr>
          </a:p>
          <a:p>
            <a:pPr lvl="1"/>
            <a:r>
              <a:rPr lang="zh-CN" altLang="en-US" sz="2000" dirty="0">
                <a:ea typeface="仿宋" panose="02010609060101010101" pitchFamily="49" charset="-122"/>
              </a:rPr>
              <a:t>官方主页：</a:t>
            </a:r>
            <a:r>
              <a:rPr lang="en-US" altLang="zh-CN" sz="2000" dirty="0">
                <a:ea typeface="仿宋" panose="02010609060101010101" pitchFamily="49" charset="-122"/>
                <a:hlinkClick r:id="rId2"/>
              </a:rPr>
              <a:t>https://horstmann.com/corejava/index.html</a:t>
            </a:r>
            <a:r>
              <a:rPr lang="en-US" altLang="zh-CN" sz="2000" dirty="0">
                <a:ea typeface="仿宋" panose="02010609060101010101" pitchFamily="49" charset="-122"/>
              </a:rPr>
              <a:t>  </a:t>
            </a:r>
          </a:p>
          <a:p>
            <a:pPr lvl="1"/>
            <a:r>
              <a:rPr lang="zh-CN" altLang="en-US" sz="2000" dirty="0">
                <a:ea typeface="仿宋" panose="02010609060101010101" pitchFamily="49" charset="-122"/>
              </a:rPr>
              <a:t>注</a:t>
            </a:r>
            <a:r>
              <a:rPr lang="en-US" altLang="zh-CN" sz="2000" dirty="0">
                <a:ea typeface="仿宋" panose="02010609060101010101" pitchFamily="49" charset="-122"/>
              </a:rPr>
              <a:t>: </a:t>
            </a:r>
            <a:r>
              <a:rPr lang="zh-CN" altLang="en-US" sz="2000" dirty="0">
                <a:ea typeface="仿宋" panose="02010609060101010101" pitchFamily="49" charset="-122"/>
              </a:rPr>
              <a:t>英文最新是第</a:t>
            </a:r>
            <a:r>
              <a:rPr lang="en-US" altLang="zh-CN" sz="2000" dirty="0">
                <a:ea typeface="仿宋" panose="02010609060101010101" pitchFamily="49" charset="-122"/>
              </a:rPr>
              <a:t>11</a:t>
            </a:r>
            <a:r>
              <a:rPr lang="zh-CN" altLang="en-US" sz="2000" dirty="0">
                <a:ea typeface="仿宋" panose="02010609060101010101" pitchFamily="49" charset="-122"/>
              </a:rPr>
              <a:t>版</a:t>
            </a:r>
            <a:r>
              <a:rPr lang="en-US" altLang="zh-CN" sz="2000" dirty="0">
                <a:ea typeface="仿宋" panose="02010609060101010101" pitchFamily="49" charset="-122"/>
              </a:rPr>
              <a:t>, </a:t>
            </a:r>
            <a:r>
              <a:rPr lang="zh-CN" altLang="en-US" sz="2000" dirty="0">
                <a:ea typeface="仿宋" panose="02010609060101010101" pitchFamily="49" charset="-122"/>
              </a:rPr>
              <a:t>影印版尚未引进</a:t>
            </a:r>
            <a:r>
              <a:rPr lang="en-US" altLang="zh-CN" sz="2000" dirty="0">
                <a:ea typeface="仿宋" panose="02010609060101010101" pitchFamily="49" charset="-122"/>
              </a:rPr>
              <a:t>, </a:t>
            </a:r>
            <a:r>
              <a:rPr lang="zh-CN" altLang="en-US" sz="2000" dirty="0">
                <a:ea typeface="仿宋" panose="02010609060101010101" pitchFamily="49" charset="-122"/>
              </a:rPr>
              <a:t>中译版已经出版</a:t>
            </a:r>
            <a:r>
              <a:rPr lang="en-US" altLang="zh-CN" sz="2000" dirty="0">
                <a:ea typeface="仿宋" panose="02010609060101010101" pitchFamily="49" charset="-122"/>
              </a:rPr>
              <a:t>.</a:t>
            </a:r>
          </a:p>
          <a:p>
            <a:pPr lvl="1"/>
            <a:endParaRPr lang="en-US" altLang="zh-CN" sz="2000" dirty="0">
              <a:ea typeface="仿宋" panose="02010609060101010101" pitchFamily="49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8</a:t>
            </a:fld>
            <a:endParaRPr lang="zh-CN" altLang="en-US"/>
          </a:p>
        </p:txBody>
      </p:sp>
      <p:pic>
        <p:nvPicPr>
          <p:cNvPr id="13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12160" y="116631"/>
            <a:ext cx="1194030" cy="15571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" name="Picture 3" descr="C:\Users\panweike\Desktop\41OG-wBNfhL._SX390_BO1,204,203,200_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380312" y="116632"/>
            <a:ext cx="1224136" cy="15582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1602804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zh-CN" altLang="en-US" sz="3200" dirty="0">
                <a:latin typeface="仿宋" panose="02010609060101010101" pitchFamily="49" charset="-122"/>
                <a:ea typeface="仿宋" panose="02010609060101010101" pitchFamily="49" charset="-122"/>
              </a:rPr>
              <a:t>教材</a:t>
            </a:r>
            <a:r>
              <a:rPr lang="en-US" altLang="zh-CN" sz="3200" dirty="0">
                <a:latin typeface="仿宋" panose="02010609060101010101" pitchFamily="49" charset="-122"/>
                <a:ea typeface="仿宋" panose="02010609060101010101" pitchFamily="49" charset="-122"/>
              </a:rPr>
              <a:t>(</a:t>
            </a:r>
            <a:r>
              <a:rPr lang="en-US" altLang="zh-CN" sz="3200" dirty="0">
                <a:latin typeface="+mn-lt"/>
                <a:ea typeface="仿宋" panose="02010609060101010101" pitchFamily="49" charset="-122"/>
              </a:rPr>
              <a:t>5/5</a:t>
            </a:r>
            <a:r>
              <a:rPr lang="en-US" altLang="zh-CN" sz="3200" dirty="0">
                <a:latin typeface="仿宋" panose="02010609060101010101" pitchFamily="49" charset="-122"/>
                <a:ea typeface="仿宋" panose="02010609060101010101" pitchFamily="49" charset="-122"/>
              </a:rPr>
              <a:t>)</a:t>
            </a:r>
            <a:endParaRPr lang="en-US" sz="3200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</a:rPr>
              <a:t>其他教材：</a:t>
            </a:r>
            <a:endParaRPr lang="en-US" altLang="zh-CN" sz="20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lvl="1"/>
            <a:r>
              <a:rPr lang="en-US" altLang="zh-CN" sz="2000" dirty="0">
                <a:ea typeface="仿宋" panose="02010609060101010101" pitchFamily="49" charset="-122"/>
              </a:rPr>
              <a:t>Bruce </a:t>
            </a:r>
            <a:r>
              <a:rPr lang="en-US" altLang="zh-CN" sz="2000" dirty="0" err="1">
                <a:ea typeface="仿宋" panose="02010609060101010101" pitchFamily="49" charset="-122"/>
              </a:rPr>
              <a:t>Eckel</a:t>
            </a:r>
            <a:r>
              <a:rPr lang="en-US" altLang="zh-CN" sz="2000" dirty="0">
                <a:ea typeface="仿宋" panose="02010609060101010101" pitchFamily="49" charset="-122"/>
              </a:rPr>
              <a:t>. </a:t>
            </a:r>
            <a:r>
              <a:rPr lang="en-US" altLang="zh-CN" sz="2000" b="1" dirty="0">
                <a:ea typeface="仿宋" panose="02010609060101010101" pitchFamily="49" charset="-122"/>
              </a:rPr>
              <a:t>Thinking in Java </a:t>
            </a:r>
            <a:r>
              <a:rPr lang="en-US" altLang="zh-CN" sz="2000" dirty="0">
                <a:ea typeface="仿宋" panose="02010609060101010101" pitchFamily="49" charset="-122"/>
              </a:rPr>
              <a:t>(4th Edition). </a:t>
            </a:r>
            <a:r>
              <a:rPr lang="en-US" altLang="zh-CN" sz="2000" dirty="0"/>
              <a:t>Prentice Hall</a:t>
            </a:r>
            <a:r>
              <a:rPr lang="en-US" altLang="zh-CN" sz="2000" dirty="0">
                <a:ea typeface="仿宋" panose="02010609060101010101" pitchFamily="49" charset="-122"/>
              </a:rPr>
              <a:t>, 2006.2. </a:t>
            </a:r>
            <a:r>
              <a:rPr lang="zh-CN" altLang="en-US" sz="2000" dirty="0">
                <a:ea typeface="仿宋" panose="02010609060101010101" pitchFamily="49" charset="-122"/>
              </a:rPr>
              <a:t>注：机械工业出版社 </a:t>
            </a:r>
            <a:r>
              <a:rPr lang="en-US" altLang="zh-CN" sz="2000" dirty="0">
                <a:ea typeface="仿宋" panose="02010609060101010101" pitchFamily="49" charset="-122"/>
              </a:rPr>
              <a:t>2007.4</a:t>
            </a:r>
            <a:r>
              <a:rPr lang="zh-CN" altLang="en-US" sz="2000" dirty="0">
                <a:ea typeface="仿宋" panose="02010609060101010101" pitchFamily="49" charset="-122"/>
              </a:rPr>
              <a:t>出版了影印版</a:t>
            </a:r>
            <a:r>
              <a:rPr lang="en-US" altLang="zh-CN" sz="2000" dirty="0">
                <a:ea typeface="仿宋" panose="02010609060101010101" pitchFamily="49" charset="-122"/>
              </a:rPr>
              <a:t>, 2007.6</a:t>
            </a:r>
            <a:r>
              <a:rPr lang="zh-CN" altLang="en-US" sz="2000" dirty="0">
                <a:ea typeface="仿宋" panose="02010609060101010101" pitchFamily="49" charset="-122"/>
              </a:rPr>
              <a:t>出版了中译本（陈昊鹏 译）</a:t>
            </a:r>
            <a:r>
              <a:rPr lang="en-US" altLang="zh-CN" sz="2000" dirty="0">
                <a:ea typeface="仿宋" panose="02010609060101010101" pitchFamily="49" charset="-122"/>
              </a:rPr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9</a:t>
            </a:fld>
            <a:endParaRPr lang="zh-CN" altLang="en-US"/>
          </a:p>
        </p:txBody>
      </p:sp>
      <p:pic>
        <p:nvPicPr>
          <p:cNvPr id="2062" name="Picture 14" descr="http://www.cmpbook.com/data/stackroom/2/21250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9840" y="116633"/>
            <a:ext cx="1068583" cy="1584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4" name="Picture 16" descr="http://www.cmpbook.com/data/stackroom/2/21382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8167" y="116632"/>
            <a:ext cx="1068583" cy="15815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602804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zh-CN" altLang="en-US" sz="3200" dirty="0">
                <a:latin typeface="仿宋" panose="02010609060101010101" pitchFamily="49" charset="-122"/>
                <a:ea typeface="仿宋" panose="02010609060101010101" pitchFamily="49" charset="-122"/>
              </a:rPr>
              <a:t>几个基本问题</a:t>
            </a:r>
            <a:endParaRPr lang="en-US" sz="3200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000" dirty="0">
                <a:solidFill>
                  <a:srgbClr val="FF0000"/>
                </a:solidFill>
              </a:rPr>
              <a:t>WHY</a:t>
            </a:r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</a:rPr>
              <a:t>：我为什么要学“</a:t>
            </a:r>
            <a:r>
              <a:rPr lang="en-US" altLang="zh-CN" sz="2000" dirty="0"/>
              <a:t>Java</a:t>
            </a:r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</a:rPr>
              <a:t>程序设计”</a:t>
            </a:r>
            <a:r>
              <a:rPr lang="zh-CN" altLang="en-US" sz="2000" dirty="0"/>
              <a:t>？</a:t>
            </a:r>
            <a:endParaRPr lang="en-US" altLang="zh-CN" sz="2000" dirty="0"/>
          </a:p>
          <a:p>
            <a:pPr lvl="1"/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</a:rPr>
              <a:t>在工业界和学术界的重要性不言而喻，是最受欢迎的语言之一</a:t>
            </a:r>
            <a:endParaRPr lang="en-US" altLang="zh-CN" sz="20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endParaRPr lang="en-US" altLang="zh-CN" sz="2000" dirty="0"/>
          </a:p>
          <a:p>
            <a:r>
              <a:rPr lang="en-US" altLang="zh-CN" sz="2000" dirty="0">
                <a:solidFill>
                  <a:srgbClr val="FF0000"/>
                </a:solidFill>
              </a:rPr>
              <a:t>WHAT</a:t>
            </a:r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</a:rPr>
              <a:t>：我能从“</a:t>
            </a:r>
            <a:r>
              <a:rPr lang="en-US" altLang="zh-CN" sz="2000" dirty="0"/>
              <a:t>Java</a:t>
            </a:r>
            <a:r>
              <a:rPr lang="zh-CN" altLang="en-US" sz="2000" dirty="0">
                <a:latin typeface="仿宋" pitchFamily="49" charset="-122"/>
                <a:ea typeface="仿宋" pitchFamily="49" charset="-122"/>
              </a:rPr>
              <a:t>程序设计”课程学到什么？</a:t>
            </a:r>
            <a:endParaRPr lang="en-US" altLang="zh-CN" sz="20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lvl="1"/>
            <a:r>
              <a:rPr lang="en-US" altLang="zh-CN" sz="2000" dirty="0"/>
              <a:t>Java</a:t>
            </a:r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</a:rPr>
              <a:t>编程的基础知识</a:t>
            </a:r>
            <a:endParaRPr lang="en-US" altLang="zh-CN" sz="20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endParaRPr lang="en-US" altLang="zh-CN" sz="2000" dirty="0"/>
          </a:p>
          <a:p>
            <a:r>
              <a:rPr lang="en-US" altLang="zh-CN" sz="2000" dirty="0">
                <a:solidFill>
                  <a:srgbClr val="FF0000"/>
                </a:solidFill>
              </a:rPr>
              <a:t>HOW</a:t>
            </a:r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</a:rPr>
              <a:t>：我如何能学好“</a:t>
            </a:r>
            <a:r>
              <a:rPr lang="en-US" altLang="zh-CN" sz="2000" dirty="0"/>
              <a:t>Java</a:t>
            </a:r>
            <a:r>
              <a:rPr lang="zh-CN" altLang="en-US" sz="2000" dirty="0">
                <a:latin typeface="仿宋" pitchFamily="49" charset="-122"/>
                <a:ea typeface="仿宋" pitchFamily="49" charset="-122"/>
              </a:rPr>
              <a:t>程序设计”？</a:t>
            </a:r>
            <a:endParaRPr lang="en-US" altLang="zh-CN" sz="20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lvl="1"/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</a:rPr>
              <a:t>教材：课堂教学</a:t>
            </a:r>
            <a:endParaRPr lang="en-US" altLang="zh-CN" sz="20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lvl="1"/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</a:rPr>
              <a:t>实验：实际开发</a:t>
            </a:r>
            <a:endParaRPr lang="en-US" altLang="zh-CN" sz="20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lvl="1"/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</a:rPr>
              <a:t>多查阅网上的资料，</a:t>
            </a:r>
            <a:r>
              <a:rPr lang="zh-CN" altLang="en-US" sz="2000" dirty="0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多动手（</a:t>
            </a:r>
            <a:r>
              <a:rPr lang="en-US" altLang="zh-CN" sz="2000" dirty="0">
                <a:solidFill>
                  <a:srgbClr val="FF0000"/>
                </a:solidFill>
                <a:ea typeface="仿宋" panose="02010609060101010101" pitchFamily="49" charset="-122"/>
              </a:rPr>
              <a:t>JDK, Eclipse/MyEclipse/IDEA</a:t>
            </a:r>
            <a:r>
              <a:rPr lang="zh-CN" altLang="en-US" sz="2000" dirty="0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）</a:t>
            </a:r>
            <a:endParaRPr lang="en-US" altLang="zh-CN" sz="2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11767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zh-CN" altLang="en-US" sz="3200" dirty="0">
                <a:latin typeface="仿宋" panose="02010609060101010101" pitchFamily="49" charset="-122"/>
                <a:ea typeface="仿宋" panose="02010609060101010101" pitchFamily="49" charset="-122"/>
              </a:rPr>
              <a:t>一个更有挑战性的问题</a:t>
            </a:r>
            <a:endParaRPr lang="en-US" sz="3200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000" dirty="0">
                <a:solidFill>
                  <a:srgbClr val="FF0000"/>
                </a:solidFill>
              </a:rPr>
              <a:t>WHY</a:t>
            </a:r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</a:rPr>
              <a:t>：网上有那么多公开课</a:t>
            </a:r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</a:rPr>
              <a:t>/</a:t>
            </a:r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</a:rPr>
              <a:t>在线视频，我为什么还要到课堂来学</a:t>
            </a:r>
            <a:r>
              <a:rPr lang="zh-CN" altLang="en-US" sz="2000" dirty="0"/>
              <a:t>？</a:t>
            </a:r>
            <a:endParaRPr lang="en-US" altLang="zh-CN" sz="2000" dirty="0"/>
          </a:p>
          <a:p>
            <a:pPr lvl="1"/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</a:rPr>
              <a:t>学堂在线 </a:t>
            </a:r>
            <a:r>
              <a:rPr lang="en-US" altLang="zh-CN" sz="2000" dirty="0">
                <a:ea typeface="仿宋" panose="02010609060101010101" pitchFamily="49" charset="-122"/>
                <a:hlinkClick r:id="rId2"/>
              </a:rPr>
              <a:t>http://www.xuetangx.com/</a:t>
            </a:r>
            <a:r>
              <a:rPr lang="en-US" altLang="zh-CN" sz="2000" dirty="0">
                <a:ea typeface="仿宋" panose="02010609060101010101" pitchFamily="49" charset="-122"/>
              </a:rPr>
              <a:t> </a:t>
            </a:r>
          </a:p>
          <a:p>
            <a:pPr lvl="1"/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</a:rPr>
              <a:t>中国大学</a:t>
            </a:r>
            <a:r>
              <a:rPr lang="en-US" altLang="zh-CN" sz="2000" dirty="0">
                <a:ea typeface="仿宋" panose="02010609060101010101" pitchFamily="49" charset="-122"/>
              </a:rPr>
              <a:t>MOOC</a:t>
            </a:r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</a:rPr>
              <a:t> </a:t>
            </a:r>
            <a:r>
              <a:rPr lang="en-US" altLang="zh-CN" sz="2000" dirty="0">
                <a:ea typeface="仿宋" panose="02010609060101010101" pitchFamily="49" charset="-122"/>
                <a:hlinkClick r:id="rId3"/>
              </a:rPr>
              <a:t>https://www.icourse163.org/</a:t>
            </a:r>
            <a:endParaRPr lang="en-US" altLang="zh-CN" sz="2000" dirty="0">
              <a:ea typeface="仿宋" panose="02010609060101010101" pitchFamily="49" charset="-122"/>
            </a:endParaRPr>
          </a:p>
          <a:p>
            <a:pPr lvl="1"/>
            <a:r>
              <a:rPr lang="en-US" altLang="zh-CN" sz="2000" dirty="0">
                <a:hlinkClick r:id="rId4"/>
              </a:rPr>
              <a:t>https://www.coursera.org/</a:t>
            </a:r>
            <a:endParaRPr lang="en-US" altLang="zh-CN" sz="2000" dirty="0"/>
          </a:p>
          <a:p>
            <a:pPr lvl="1"/>
            <a:r>
              <a:rPr lang="en-US" altLang="zh-CN" sz="2000" dirty="0">
                <a:hlinkClick r:id="rId5"/>
              </a:rPr>
              <a:t>https://www.edx.org/</a:t>
            </a:r>
            <a:endParaRPr lang="en-US" altLang="zh-CN" sz="2000" dirty="0"/>
          </a:p>
          <a:p>
            <a:pPr lvl="1"/>
            <a:r>
              <a:rPr lang="en-US" altLang="zh-CN" sz="2000" dirty="0">
                <a:hlinkClick r:id="rId6"/>
              </a:rPr>
              <a:t>https://www.udacity.com/</a:t>
            </a:r>
            <a:endParaRPr lang="en-US" altLang="zh-CN" sz="2000" dirty="0"/>
          </a:p>
          <a:p>
            <a:pPr lvl="1"/>
            <a:endParaRPr lang="en-US" altLang="zh-CN" sz="2000" dirty="0"/>
          </a:p>
          <a:p>
            <a:pPr lvl="1"/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</a:rPr>
              <a:t>如果时间允许，多渠道学习（互补性），有选择有目的（不要为了学习而学习）</a:t>
            </a:r>
            <a:endParaRPr lang="en-US" altLang="zh-CN" sz="2000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606889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zh-CN" altLang="en-US" sz="3200" dirty="0">
                <a:latin typeface="仿宋" panose="02010609060101010101" pitchFamily="49" charset="-122"/>
                <a:ea typeface="仿宋" panose="02010609060101010101" pitchFamily="49" charset="-122"/>
              </a:rPr>
              <a:t>线下课堂安排</a:t>
            </a:r>
            <a:endParaRPr lang="en-US" sz="3200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zh-CN" altLang="en-US" sz="2000" dirty="0">
                <a:latin typeface="+mj-lt"/>
                <a:ea typeface="仿宋" panose="02010609060101010101" pitchFamily="49" charset="-122"/>
              </a:rPr>
              <a:t>与</a:t>
            </a:r>
            <a:r>
              <a:rPr lang="en-US" altLang="zh-CN" sz="2000" dirty="0">
                <a:latin typeface="+mj-lt"/>
                <a:ea typeface="仿宋" panose="02010609060101010101" pitchFamily="49" charset="-122"/>
              </a:rPr>
              <a:t>MOOC</a:t>
            </a:r>
            <a:r>
              <a:rPr lang="zh-CN" altLang="en-US" sz="2000" dirty="0">
                <a:latin typeface="+mj-lt"/>
                <a:ea typeface="仿宋" panose="02010609060101010101" pitchFamily="49" charset="-122"/>
              </a:rPr>
              <a:t>视频的对应关系</a:t>
            </a:r>
            <a:endParaRPr lang="en-US" altLang="zh-CN" sz="2000" dirty="0">
              <a:latin typeface="+mj-lt"/>
              <a:ea typeface="仿宋" panose="02010609060101010101" pitchFamily="49" charset="-122"/>
            </a:endParaRPr>
          </a:p>
          <a:p>
            <a:pPr lvl="1"/>
            <a:r>
              <a:rPr lang="en-US" altLang="zh-CN" sz="2000" dirty="0">
                <a:solidFill>
                  <a:srgbClr val="FF0000"/>
                </a:solidFill>
                <a:latin typeface="+mj-lt"/>
                <a:ea typeface="仿宋" panose="02010609060101010101" pitchFamily="49" charset="-122"/>
              </a:rPr>
              <a:t>Ch1: Java</a:t>
            </a:r>
            <a:r>
              <a:rPr lang="zh-CN" altLang="en-US" sz="2000" dirty="0">
                <a:solidFill>
                  <a:srgbClr val="FF0000"/>
                </a:solidFill>
                <a:latin typeface="+mj-lt"/>
                <a:ea typeface="仿宋" panose="02010609060101010101" pitchFamily="49" charset="-122"/>
              </a:rPr>
              <a:t>语言概述 </a:t>
            </a:r>
            <a:r>
              <a:rPr lang="en-US" altLang="zh-CN" sz="2000" dirty="0">
                <a:solidFill>
                  <a:srgbClr val="FF0000"/>
                </a:solidFill>
                <a:latin typeface="+mj-lt"/>
                <a:ea typeface="仿宋" panose="02010609060101010101" pitchFamily="49" charset="-122"/>
              </a:rPr>
              <a:t>[MOOC-Ch1]</a:t>
            </a:r>
          </a:p>
          <a:p>
            <a:pPr lvl="1"/>
            <a:r>
              <a:rPr lang="en-US" altLang="zh-CN" sz="2000" dirty="0">
                <a:solidFill>
                  <a:srgbClr val="FF0000"/>
                </a:solidFill>
                <a:latin typeface="+mj-lt"/>
                <a:ea typeface="仿宋" panose="02010609060101010101" pitchFamily="49" charset="-122"/>
              </a:rPr>
              <a:t>Ch2: </a:t>
            </a:r>
            <a:r>
              <a:rPr lang="zh-CN" altLang="en-US" sz="2000" dirty="0">
                <a:solidFill>
                  <a:srgbClr val="FF0000"/>
                </a:solidFill>
                <a:latin typeface="+mj-lt"/>
                <a:ea typeface="仿宋" panose="02010609060101010101" pitchFamily="49" charset="-122"/>
              </a:rPr>
              <a:t>基本数据类型和数组 </a:t>
            </a:r>
            <a:r>
              <a:rPr lang="en-US" altLang="zh-CN" sz="2000" dirty="0">
                <a:solidFill>
                  <a:srgbClr val="FF0000"/>
                </a:solidFill>
                <a:latin typeface="+mj-lt"/>
                <a:ea typeface="仿宋" panose="02010609060101010101" pitchFamily="49" charset="-122"/>
              </a:rPr>
              <a:t>[MOOC-Ch2]</a:t>
            </a:r>
          </a:p>
          <a:p>
            <a:pPr lvl="1"/>
            <a:r>
              <a:rPr lang="en-US" altLang="zh-CN" sz="2000" dirty="0">
                <a:solidFill>
                  <a:srgbClr val="FF0000"/>
                </a:solidFill>
                <a:latin typeface="+mj-lt"/>
                <a:ea typeface="仿宋" panose="02010609060101010101" pitchFamily="49" charset="-122"/>
              </a:rPr>
              <a:t>Ch3: </a:t>
            </a:r>
            <a:r>
              <a:rPr lang="zh-CN" altLang="en-US" sz="2000" dirty="0">
                <a:solidFill>
                  <a:srgbClr val="FF0000"/>
                </a:solidFill>
                <a:latin typeface="+mj-lt"/>
                <a:ea typeface="仿宋" panose="02010609060101010101" pitchFamily="49" charset="-122"/>
              </a:rPr>
              <a:t>运算符、表达式和语句 </a:t>
            </a:r>
            <a:r>
              <a:rPr lang="en-US" altLang="zh-CN" sz="2000" dirty="0">
                <a:solidFill>
                  <a:srgbClr val="FF0000"/>
                </a:solidFill>
                <a:latin typeface="+mj-lt"/>
                <a:ea typeface="仿宋" panose="02010609060101010101" pitchFamily="49" charset="-122"/>
              </a:rPr>
              <a:t>[MOOC-Ch2]</a:t>
            </a:r>
          </a:p>
          <a:p>
            <a:pPr lvl="1"/>
            <a:r>
              <a:rPr lang="en-US" altLang="zh-CN" sz="2000" dirty="0">
                <a:solidFill>
                  <a:srgbClr val="FF0000"/>
                </a:solidFill>
                <a:ea typeface="仿宋" panose="02010609060101010101" pitchFamily="49" charset="-122"/>
              </a:rPr>
              <a:t>Ch6: </a:t>
            </a:r>
            <a:r>
              <a:rPr lang="zh-CN" altLang="en-US" sz="2000" dirty="0">
                <a:solidFill>
                  <a:srgbClr val="FF0000"/>
                </a:solidFill>
                <a:ea typeface="仿宋" panose="02010609060101010101" pitchFamily="49" charset="-122"/>
              </a:rPr>
              <a:t>字符串和正则表达式 </a:t>
            </a:r>
            <a:r>
              <a:rPr lang="en-US" altLang="zh-CN" sz="2000" dirty="0">
                <a:solidFill>
                  <a:srgbClr val="FF0000"/>
                </a:solidFill>
                <a:ea typeface="仿宋" panose="02010609060101010101" pitchFamily="49" charset="-122"/>
              </a:rPr>
              <a:t>[MOOC-Ch5]</a:t>
            </a:r>
          </a:p>
          <a:p>
            <a:pPr lvl="1"/>
            <a:r>
              <a:rPr lang="en-US" altLang="zh-CN" sz="2000" dirty="0">
                <a:solidFill>
                  <a:srgbClr val="0000FF"/>
                </a:solidFill>
                <a:latin typeface="+mj-lt"/>
                <a:ea typeface="仿宋" panose="02010609060101010101" pitchFamily="49" charset="-122"/>
              </a:rPr>
              <a:t>Ch4: </a:t>
            </a:r>
            <a:r>
              <a:rPr lang="zh-CN" altLang="en-US" sz="2000" dirty="0">
                <a:solidFill>
                  <a:srgbClr val="0000FF"/>
                </a:solidFill>
                <a:latin typeface="+mj-lt"/>
                <a:ea typeface="仿宋" panose="02010609060101010101" pitchFamily="49" charset="-122"/>
              </a:rPr>
              <a:t>类和对象 </a:t>
            </a:r>
            <a:r>
              <a:rPr lang="en-US" altLang="zh-CN" sz="2000" dirty="0">
                <a:solidFill>
                  <a:srgbClr val="0000FF"/>
                </a:solidFill>
                <a:latin typeface="+mj-lt"/>
                <a:ea typeface="仿宋" panose="02010609060101010101" pitchFamily="49" charset="-122"/>
              </a:rPr>
              <a:t>[MOOC-Ch3]</a:t>
            </a:r>
          </a:p>
          <a:p>
            <a:pPr lvl="1"/>
            <a:r>
              <a:rPr lang="en-US" altLang="zh-CN" sz="2000" dirty="0">
                <a:solidFill>
                  <a:srgbClr val="0000FF"/>
                </a:solidFill>
                <a:ea typeface="仿宋" panose="02010609060101010101" pitchFamily="49" charset="-122"/>
              </a:rPr>
              <a:t>Ch5: </a:t>
            </a:r>
            <a:r>
              <a:rPr lang="zh-CN" altLang="en-US" sz="2000" dirty="0">
                <a:solidFill>
                  <a:srgbClr val="0000FF"/>
                </a:solidFill>
                <a:ea typeface="仿宋" panose="02010609060101010101" pitchFamily="49" charset="-122"/>
              </a:rPr>
              <a:t>继承、接口和泛型 </a:t>
            </a:r>
            <a:r>
              <a:rPr lang="en-US" altLang="zh-CN" sz="2000" dirty="0">
                <a:solidFill>
                  <a:srgbClr val="0000FF"/>
                </a:solidFill>
                <a:ea typeface="仿宋" panose="02010609060101010101" pitchFamily="49" charset="-122"/>
              </a:rPr>
              <a:t>[MOOC-Ch4, 6, 7]</a:t>
            </a:r>
          </a:p>
          <a:p>
            <a:pPr lvl="1"/>
            <a:r>
              <a:rPr lang="en-US" altLang="zh-CN" sz="2000" dirty="0">
                <a:solidFill>
                  <a:srgbClr val="FF0000"/>
                </a:solidFill>
                <a:ea typeface="仿宋" panose="02010609060101010101" pitchFamily="49" charset="-122"/>
              </a:rPr>
              <a:t>Ch7: </a:t>
            </a:r>
            <a:r>
              <a:rPr lang="zh-CN" altLang="en-US" sz="2000" dirty="0">
                <a:solidFill>
                  <a:srgbClr val="FF0000"/>
                </a:solidFill>
                <a:ea typeface="仿宋" panose="02010609060101010101" pitchFamily="49" charset="-122"/>
              </a:rPr>
              <a:t>常用实用类 </a:t>
            </a:r>
            <a:r>
              <a:rPr lang="en-US" altLang="zh-CN" sz="2000" dirty="0">
                <a:solidFill>
                  <a:srgbClr val="FF0000"/>
                </a:solidFill>
                <a:ea typeface="仿宋" panose="02010609060101010101" pitchFamily="49" charset="-122"/>
              </a:rPr>
              <a:t>[MOOC-Ch6]</a:t>
            </a:r>
          </a:p>
          <a:p>
            <a:pPr lvl="1"/>
            <a:r>
              <a:rPr lang="en-US" altLang="zh-CN" sz="2000" dirty="0">
                <a:solidFill>
                  <a:srgbClr val="0000FF"/>
                </a:solidFill>
                <a:ea typeface="仿宋" panose="02010609060101010101" pitchFamily="49" charset="-122"/>
              </a:rPr>
              <a:t>Ch8: </a:t>
            </a:r>
            <a:r>
              <a:rPr lang="zh-CN" altLang="en-US" sz="2000" dirty="0">
                <a:solidFill>
                  <a:srgbClr val="0000FF"/>
                </a:solidFill>
                <a:ea typeface="仿宋" panose="02010609060101010101" pitchFamily="49" charset="-122"/>
              </a:rPr>
              <a:t>线程 </a:t>
            </a:r>
            <a:r>
              <a:rPr lang="en-US" altLang="zh-CN" sz="2000" dirty="0">
                <a:solidFill>
                  <a:srgbClr val="0000FF"/>
                </a:solidFill>
                <a:ea typeface="仿宋" panose="02010609060101010101" pitchFamily="49" charset="-122"/>
              </a:rPr>
              <a:t>[MOOC-Ch10]</a:t>
            </a:r>
            <a:endParaRPr lang="en-US" altLang="zh-CN" sz="2000" dirty="0">
              <a:solidFill>
                <a:srgbClr val="0000FF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lvl="1"/>
            <a:r>
              <a:rPr lang="en-US" altLang="zh-CN" sz="2000" dirty="0">
                <a:solidFill>
                  <a:srgbClr val="FF0000"/>
                </a:solidFill>
                <a:ea typeface="仿宋" panose="02010609060101010101" pitchFamily="49" charset="-122"/>
              </a:rPr>
              <a:t>Ch9: </a:t>
            </a:r>
            <a:r>
              <a:rPr lang="zh-CN" altLang="en-US" sz="2000" dirty="0">
                <a:solidFill>
                  <a:srgbClr val="FF0000"/>
                </a:solidFill>
                <a:ea typeface="仿宋" panose="02010609060101010101" pitchFamily="49" charset="-122"/>
              </a:rPr>
              <a:t>输入流和输出流 </a:t>
            </a:r>
            <a:r>
              <a:rPr lang="en-US" altLang="zh-CN" sz="2000" dirty="0">
                <a:solidFill>
                  <a:srgbClr val="FF0000"/>
                </a:solidFill>
                <a:ea typeface="仿宋" panose="02010609060101010101" pitchFamily="49" charset="-122"/>
              </a:rPr>
              <a:t>[MOOC-Ch8]</a:t>
            </a:r>
          </a:p>
          <a:p>
            <a:pPr lvl="1"/>
            <a:r>
              <a:rPr lang="en-US" altLang="zh-CN" sz="2000" dirty="0">
                <a:solidFill>
                  <a:srgbClr val="0000FF"/>
                </a:solidFill>
              </a:rPr>
              <a:t>Ch10: </a:t>
            </a:r>
            <a:r>
              <a:rPr lang="zh-CN" altLang="en-US" sz="2000" dirty="0">
                <a:solidFill>
                  <a:srgbClr val="0000FF"/>
                </a:solidFill>
                <a:latin typeface="仿宋" pitchFamily="49" charset="-122"/>
                <a:ea typeface="仿宋" pitchFamily="49" charset="-122"/>
              </a:rPr>
              <a:t>图形用户界面设计 </a:t>
            </a:r>
            <a:r>
              <a:rPr lang="en-US" altLang="zh-CN" sz="2000" dirty="0">
                <a:solidFill>
                  <a:srgbClr val="0000FF"/>
                </a:solidFill>
                <a:ea typeface="仿宋" panose="02010609060101010101" pitchFamily="49" charset="-122"/>
              </a:rPr>
              <a:t>[MOOC-Ch9]</a:t>
            </a:r>
            <a:endParaRPr lang="en-US" altLang="zh-CN" sz="2000" dirty="0">
              <a:solidFill>
                <a:srgbClr val="0000FF"/>
              </a:solidFill>
              <a:latin typeface="+mj-lt"/>
              <a:ea typeface="仿宋" panose="02010609060101010101" pitchFamily="49" charset="-122"/>
            </a:endParaRPr>
          </a:p>
          <a:p>
            <a:pPr lvl="1"/>
            <a:r>
              <a:rPr lang="en-US" altLang="zh-CN" sz="2000" dirty="0">
                <a:solidFill>
                  <a:srgbClr val="FF0000"/>
                </a:solidFill>
              </a:rPr>
              <a:t>Ch11: Java</a:t>
            </a:r>
            <a:r>
              <a:rPr lang="zh-CN" altLang="en-US" sz="2000" dirty="0">
                <a:solidFill>
                  <a:srgbClr val="FF0000"/>
                </a:solidFill>
                <a:latin typeface="仿宋" pitchFamily="49" charset="-122"/>
                <a:ea typeface="仿宋" pitchFamily="49" charset="-122"/>
              </a:rPr>
              <a:t>中的网络编程 </a:t>
            </a:r>
            <a:r>
              <a:rPr lang="en-US" altLang="zh-CN" sz="2000" dirty="0">
                <a:solidFill>
                  <a:srgbClr val="FF0000"/>
                </a:solidFill>
                <a:ea typeface="仿宋" panose="02010609060101010101" pitchFamily="49" charset="-122"/>
              </a:rPr>
              <a:t>[MOOC-Ch11]</a:t>
            </a:r>
            <a:endParaRPr lang="en-US" altLang="zh-CN" sz="2000" dirty="0">
              <a:solidFill>
                <a:srgbClr val="FF0000"/>
              </a:solidFill>
              <a:latin typeface="仿宋" pitchFamily="49" charset="-122"/>
              <a:ea typeface="仿宋" pitchFamily="49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34073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zh-CN" altLang="en-US" sz="3200" dirty="0">
                <a:latin typeface="仿宋" panose="02010609060101010101" pitchFamily="49" charset="-122"/>
                <a:ea typeface="仿宋" panose="02010609060101010101" pitchFamily="49" charset="-122"/>
              </a:rPr>
              <a:t>线下课堂安排</a:t>
            </a:r>
            <a:endParaRPr lang="en-US" sz="3200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zh-CN" altLang="en-US" sz="2000" dirty="0">
                <a:latin typeface="+mj-lt"/>
                <a:ea typeface="仿宋" panose="02010609060101010101" pitchFamily="49" charset="-122"/>
              </a:rPr>
              <a:t>与</a:t>
            </a:r>
            <a:r>
              <a:rPr lang="en-US" altLang="zh-CN" sz="2000" dirty="0">
                <a:latin typeface="+mj-lt"/>
                <a:ea typeface="仿宋" panose="02010609060101010101" pitchFamily="49" charset="-122"/>
              </a:rPr>
              <a:t>”Introduction to Java Programming (10th Edition)”</a:t>
            </a:r>
            <a:r>
              <a:rPr lang="zh-CN" altLang="en-US" sz="2000" dirty="0">
                <a:latin typeface="+mj-lt"/>
                <a:ea typeface="仿宋" panose="02010609060101010101" pitchFamily="49" charset="-122"/>
              </a:rPr>
              <a:t>的对应关系</a:t>
            </a:r>
            <a:endParaRPr lang="en-US" altLang="zh-CN" sz="2000" dirty="0">
              <a:latin typeface="+mj-lt"/>
              <a:ea typeface="仿宋" panose="02010609060101010101" pitchFamily="49" charset="-122"/>
            </a:endParaRPr>
          </a:p>
          <a:p>
            <a:pPr lvl="1"/>
            <a:r>
              <a:rPr lang="en-US" altLang="zh-CN" sz="2000" dirty="0">
                <a:solidFill>
                  <a:srgbClr val="FF0000"/>
                </a:solidFill>
                <a:latin typeface="+mj-lt"/>
                <a:ea typeface="仿宋" panose="02010609060101010101" pitchFamily="49" charset="-122"/>
              </a:rPr>
              <a:t>Ch1: Java</a:t>
            </a:r>
            <a:r>
              <a:rPr lang="zh-CN" altLang="en-US" sz="2000" dirty="0">
                <a:solidFill>
                  <a:srgbClr val="FF0000"/>
                </a:solidFill>
                <a:latin typeface="+mj-lt"/>
                <a:ea typeface="仿宋" panose="02010609060101010101" pitchFamily="49" charset="-122"/>
              </a:rPr>
              <a:t>语言概述 </a:t>
            </a:r>
            <a:r>
              <a:rPr lang="en-US" altLang="zh-CN" sz="2000" dirty="0">
                <a:solidFill>
                  <a:srgbClr val="FF0000"/>
                </a:solidFill>
                <a:ea typeface="仿宋" panose="02010609060101010101" pitchFamily="49" charset="-122"/>
              </a:rPr>
              <a:t>[IJP-Ch1-8]</a:t>
            </a:r>
            <a:endParaRPr lang="en-US" altLang="zh-CN" sz="2000" dirty="0">
              <a:solidFill>
                <a:srgbClr val="FF0000"/>
              </a:solidFill>
              <a:latin typeface="+mj-lt"/>
              <a:ea typeface="仿宋" panose="02010609060101010101" pitchFamily="49" charset="-122"/>
            </a:endParaRPr>
          </a:p>
          <a:p>
            <a:pPr lvl="1"/>
            <a:r>
              <a:rPr lang="en-US" altLang="zh-CN" sz="2000" dirty="0">
                <a:solidFill>
                  <a:srgbClr val="FF0000"/>
                </a:solidFill>
                <a:latin typeface="+mj-lt"/>
                <a:ea typeface="仿宋" panose="02010609060101010101" pitchFamily="49" charset="-122"/>
              </a:rPr>
              <a:t>Ch2: </a:t>
            </a:r>
            <a:r>
              <a:rPr lang="zh-CN" altLang="en-US" sz="2000" dirty="0">
                <a:solidFill>
                  <a:srgbClr val="FF0000"/>
                </a:solidFill>
                <a:latin typeface="+mj-lt"/>
                <a:ea typeface="仿宋" panose="02010609060101010101" pitchFamily="49" charset="-122"/>
              </a:rPr>
              <a:t>基本数据类型和数组 </a:t>
            </a:r>
            <a:r>
              <a:rPr lang="en-US" altLang="zh-CN" sz="2000" dirty="0">
                <a:solidFill>
                  <a:srgbClr val="FF0000"/>
                </a:solidFill>
                <a:ea typeface="仿宋" panose="02010609060101010101" pitchFamily="49" charset="-122"/>
              </a:rPr>
              <a:t>[IJP-Ch1-8]</a:t>
            </a:r>
            <a:endParaRPr lang="en-US" altLang="zh-CN" sz="2000" dirty="0">
              <a:solidFill>
                <a:srgbClr val="FF0000"/>
              </a:solidFill>
              <a:latin typeface="+mj-lt"/>
              <a:ea typeface="仿宋" panose="02010609060101010101" pitchFamily="49" charset="-122"/>
            </a:endParaRPr>
          </a:p>
          <a:p>
            <a:pPr lvl="1"/>
            <a:r>
              <a:rPr lang="en-US" altLang="zh-CN" sz="2000" dirty="0">
                <a:solidFill>
                  <a:srgbClr val="FF0000"/>
                </a:solidFill>
                <a:latin typeface="+mj-lt"/>
                <a:ea typeface="仿宋" panose="02010609060101010101" pitchFamily="49" charset="-122"/>
              </a:rPr>
              <a:t>Ch3: </a:t>
            </a:r>
            <a:r>
              <a:rPr lang="zh-CN" altLang="en-US" sz="2000" dirty="0">
                <a:solidFill>
                  <a:srgbClr val="FF0000"/>
                </a:solidFill>
                <a:latin typeface="+mj-lt"/>
                <a:ea typeface="仿宋" panose="02010609060101010101" pitchFamily="49" charset="-122"/>
              </a:rPr>
              <a:t>运算符、表达式和语句 </a:t>
            </a:r>
            <a:r>
              <a:rPr lang="en-US" altLang="zh-CN" sz="2000" dirty="0">
                <a:solidFill>
                  <a:srgbClr val="FF0000"/>
                </a:solidFill>
                <a:ea typeface="仿宋" panose="02010609060101010101" pitchFamily="49" charset="-122"/>
              </a:rPr>
              <a:t>[IJP-Ch1-8]</a:t>
            </a:r>
            <a:endParaRPr lang="en-US" altLang="zh-CN" sz="2000" dirty="0">
              <a:solidFill>
                <a:srgbClr val="FF0000"/>
              </a:solidFill>
              <a:latin typeface="+mj-lt"/>
              <a:ea typeface="仿宋" panose="02010609060101010101" pitchFamily="49" charset="-122"/>
            </a:endParaRPr>
          </a:p>
          <a:p>
            <a:pPr lvl="1"/>
            <a:r>
              <a:rPr lang="en-US" altLang="zh-CN" sz="2000" dirty="0">
                <a:solidFill>
                  <a:srgbClr val="FF0000"/>
                </a:solidFill>
                <a:ea typeface="仿宋" panose="02010609060101010101" pitchFamily="49" charset="-122"/>
              </a:rPr>
              <a:t>Ch6: </a:t>
            </a:r>
            <a:r>
              <a:rPr lang="zh-CN" altLang="en-US" sz="2000" dirty="0">
                <a:solidFill>
                  <a:srgbClr val="FF0000"/>
                </a:solidFill>
                <a:ea typeface="仿宋" panose="02010609060101010101" pitchFamily="49" charset="-122"/>
              </a:rPr>
              <a:t>字符串和正则表达式 </a:t>
            </a:r>
            <a:r>
              <a:rPr lang="en-US" altLang="zh-CN" sz="2000" dirty="0">
                <a:solidFill>
                  <a:srgbClr val="FF0000"/>
                </a:solidFill>
                <a:ea typeface="仿宋" panose="02010609060101010101" pitchFamily="49" charset="-122"/>
              </a:rPr>
              <a:t>[IJP-Ch1-8]</a:t>
            </a:r>
            <a:endParaRPr lang="en-US" altLang="zh-CN" sz="2000" dirty="0">
              <a:solidFill>
                <a:srgbClr val="FF0000"/>
              </a:solidFill>
              <a:latin typeface="+mj-lt"/>
              <a:ea typeface="仿宋" panose="02010609060101010101" pitchFamily="49" charset="-122"/>
            </a:endParaRPr>
          </a:p>
          <a:p>
            <a:pPr lvl="1"/>
            <a:r>
              <a:rPr lang="en-US" altLang="zh-CN" sz="2000" dirty="0">
                <a:solidFill>
                  <a:srgbClr val="0000FF"/>
                </a:solidFill>
                <a:latin typeface="+mj-lt"/>
                <a:ea typeface="仿宋" panose="02010609060101010101" pitchFamily="49" charset="-122"/>
              </a:rPr>
              <a:t>Ch4: </a:t>
            </a:r>
            <a:r>
              <a:rPr lang="zh-CN" altLang="en-US" sz="2000" dirty="0">
                <a:solidFill>
                  <a:srgbClr val="0000FF"/>
                </a:solidFill>
                <a:latin typeface="+mj-lt"/>
                <a:ea typeface="仿宋" panose="02010609060101010101" pitchFamily="49" charset="-122"/>
              </a:rPr>
              <a:t>类和对象 </a:t>
            </a:r>
            <a:r>
              <a:rPr lang="en-US" altLang="zh-CN" sz="2000" dirty="0">
                <a:solidFill>
                  <a:srgbClr val="0000FF"/>
                </a:solidFill>
                <a:ea typeface="仿宋" panose="02010609060101010101" pitchFamily="49" charset="-122"/>
              </a:rPr>
              <a:t>[IJP-Ch9-11, 19]</a:t>
            </a:r>
            <a:endParaRPr lang="en-US" altLang="zh-CN" sz="2000" dirty="0">
              <a:solidFill>
                <a:srgbClr val="0000FF"/>
              </a:solidFill>
              <a:latin typeface="+mj-lt"/>
              <a:ea typeface="仿宋" panose="02010609060101010101" pitchFamily="49" charset="-122"/>
            </a:endParaRPr>
          </a:p>
          <a:p>
            <a:pPr lvl="1"/>
            <a:r>
              <a:rPr lang="en-US" altLang="zh-CN" sz="2000" dirty="0">
                <a:solidFill>
                  <a:srgbClr val="0000FF"/>
                </a:solidFill>
                <a:ea typeface="仿宋" panose="02010609060101010101" pitchFamily="49" charset="-122"/>
              </a:rPr>
              <a:t>Ch5: </a:t>
            </a:r>
            <a:r>
              <a:rPr lang="zh-CN" altLang="en-US" sz="2000" dirty="0">
                <a:solidFill>
                  <a:srgbClr val="0000FF"/>
                </a:solidFill>
                <a:ea typeface="仿宋" panose="02010609060101010101" pitchFamily="49" charset="-122"/>
              </a:rPr>
              <a:t>继承、接口和泛型 </a:t>
            </a:r>
            <a:r>
              <a:rPr lang="en-US" altLang="zh-CN" sz="2000" dirty="0">
                <a:solidFill>
                  <a:srgbClr val="0000FF"/>
                </a:solidFill>
                <a:ea typeface="仿宋" panose="02010609060101010101" pitchFamily="49" charset="-122"/>
              </a:rPr>
              <a:t>[IJP-Ch9-11, 19]</a:t>
            </a:r>
          </a:p>
          <a:p>
            <a:pPr lvl="1"/>
            <a:r>
              <a:rPr lang="en-US" altLang="zh-CN" sz="2000" dirty="0">
                <a:solidFill>
                  <a:srgbClr val="FF0000"/>
                </a:solidFill>
                <a:ea typeface="仿宋" panose="02010609060101010101" pitchFamily="49" charset="-122"/>
              </a:rPr>
              <a:t>Ch7: </a:t>
            </a:r>
            <a:r>
              <a:rPr lang="zh-CN" altLang="en-US" sz="2000" dirty="0">
                <a:solidFill>
                  <a:srgbClr val="FF0000"/>
                </a:solidFill>
                <a:ea typeface="仿宋" panose="02010609060101010101" pitchFamily="49" charset="-122"/>
              </a:rPr>
              <a:t>常用实用类 </a:t>
            </a:r>
            <a:r>
              <a:rPr lang="en-US" altLang="zh-CN" sz="2000" dirty="0">
                <a:solidFill>
                  <a:srgbClr val="FF0000"/>
                </a:solidFill>
                <a:ea typeface="仿宋" panose="02010609060101010101" pitchFamily="49" charset="-122"/>
              </a:rPr>
              <a:t>[IJP-Ch20-21]</a:t>
            </a:r>
          </a:p>
          <a:p>
            <a:pPr lvl="1"/>
            <a:r>
              <a:rPr lang="en-US" altLang="zh-CN" sz="2000" dirty="0">
                <a:solidFill>
                  <a:srgbClr val="0000FF"/>
                </a:solidFill>
                <a:ea typeface="仿宋" panose="02010609060101010101" pitchFamily="49" charset="-122"/>
              </a:rPr>
              <a:t>Ch8: </a:t>
            </a:r>
            <a:r>
              <a:rPr lang="zh-CN" altLang="en-US" sz="2000" dirty="0">
                <a:solidFill>
                  <a:srgbClr val="0000FF"/>
                </a:solidFill>
                <a:ea typeface="仿宋" panose="02010609060101010101" pitchFamily="49" charset="-122"/>
              </a:rPr>
              <a:t>线程 </a:t>
            </a:r>
            <a:r>
              <a:rPr lang="en-US" altLang="zh-CN" sz="2000" dirty="0">
                <a:solidFill>
                  <a:srgbClr val="0000FF"/>
                </a:solidFill>
                <a:ea typeface="仿宋" panose="02010609060101010101" pitchFamily="49" charset="-122"/>
              </a:rPr>
              <a:t>[IJP-Ch30]</a:t>
            </a:r>
            <a:endParaRPr lang="en-US" altLang="zh-CN" sz="2000" dirty="0">
              <a:solidFill>
                <a:srgbClr val="0000FF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lvl="1"/>
            <a:r>
              <a:rPr lang="en-US" altLang="zh-CN" sz="2000" dirty="0">
                <a:solidFill>
                  <a:srgbClr val="FF0000"/>
                </a:solidFill>
                <a:ea typeface="仿宋" panose="02010609060101010101" pitchFamily="49" charset="-122"/>
              </a:rPr>
              <a:t>Ch9: </a:t>
            </a:r>
            <a:r>
              <a:rPr lang="zh-CN" altLang="en-US" sz="2000" dirty="0">
                <a:solidFill>
                  <a:srgbClr val="FF0000"/>
                </a:solidFill>
                <a:ea typeface="仿宋" panose="02010609060101010101" pitchFamily="49" charset="-122"/>
              </a:rPr>
              <a:t>输入流和输出流 </a:t>
            </a:r>
            <a:r>
              <a:rPr lang="en-US" altLang="zh-CN" sz="2000" dirty="0">
                <a:solidFill>
                  <a:srgbClr val="FF0000"/>
                </a:solidFill>
                <a:ea typeface="仿宋" panose="02010609060101010101" pitchFamily="49" charset="-122"/>
              </a:rPr>
              <a:t>[IJP-Ch12, 17]</a:t>
            </a:r>
          </a:p>
          <a:p>
            <a:pPr lvl="1"/>
            <a:r>
              <a:rPr lang="en-US" altLang="zh-CN" sz="2000" dirty="0">
                <a:solidFill>
                  <a:srgbClr val="0000FF"/>
                </a:solidFill>
              </a:rPr>
              <a:t>Ch10: </a:t>
            </a:r>
            <a:r>
              <a:rPr lang="zh-CN" altLang="en-US" sz="2000" dirty="0">
                <a:solidFill>
                  <a:srgbClr val="0000FF"/>
                </a:solidFill>
                <a:latin typeface="仿宋" pitchFamily="49" charset="-122"/>
                <a:ea typeface="仿宋" pitchFamily="49" charset="-122"/>
              </a:rPr>
              <a:t>图形用户界面设计 </a:t>
            </a:r>
            <a:r>
              <a:rPr lang="en-US" altLang="zh-CN" sz="2000" dirty="0">
                <a:solidFill>
                  <a:srgbClr val="0000FF"/>
                </a:solidFill>
                <a:ea typeface="仿宋" panose="02010609060101010101" pitchFamily="49" charset="-122"/>
              </a:rPr>
              <a:t>[IJP-Ch14-16]</a:t>
            </a:r>
            <a:endParaRPr lang="en-US" altLang="zh-CN" sz="2000" dirty="0">
              <a:solidFill>
                <a:srgbClr val="0000FF"/>
              </a:solidFill>
              <a:latin typeface="+mj-lt"/>
              <a:ea typeface="仿宋" panose="02010609060101010101" pitchFamily="49" charset="-122"/>
            </a:endParaRPr>
          </a:p>
          <a:p>
            <a:pPr lvl="1"/>
            <a:r>
              <a:rPr lang="en-US" altLang="zh-CN" sz="2000" dirty="0">
                <a:solidFill>
                  <a:srgbClr val="FF0000"/>
                </a:solidFill>
              </a:rPr>
              <a:t>Ch11: Java</a:t>
            </a:r>
            <a:r>
              <a:rPr lang="zh-CN" altLang="en-US" sz="2000" dirty="0">
                <a:solidFill>
                  <a:srgbClr val="FF0000"/>
                </a:solidFill>
                <a:latin typeface="仿宋" pitchFamily="49" charset="-122"/>
                <a:ea typeface="仿宋" pitchFamily="49" charset="-122"/>
              </a:rPr>
              <a:t>中的网络编程 </a:t>
            </a:r>
            <a:r>
              <a:rPr lang="en-US" altLang="zh-CN" sz="2000" dirty="0">
                <a:solidFill>
                  <a:srgbClr val="FF0000"/>
                </a:solidFill>
                <a:ea typeface="仿宋" panose="02010609060101010101" pitchFamily="49" charset="-122"/>
              </a:rPr>
              <a:t>[IJP-Ch31]</a:t>
            </a:r>
            <a:endParaRPr lang="en-US" altLang="zh-CN" sz="2000" dirty="0">
              <a:solidFill>
                <a:srgbClr val="FF0000"/>
              </a:solidFill>
              <a:latin typeface="仿宋" pitchFamily="49" charset="-122"/>
              <a:ea typeface="仿宋" pitchFamily="49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09663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>
                <a:ea typeface="仿宋" panose="02010609060101010101" pitchFamily="49" charset="-122"/>
              </a:rPr>
              <a:t>”Introduction to Java Programming (10th/11th/12th Edition)”</a:t>
            </a:r>
            <a:endParaRPr lang="en-US" sz="3200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altLang="zh-CN" sz="2000" dirty="0">
                <a:latin typeface="+mj-lt"/>
                <a:ea typeface="仿宋" panose="02010609060101010101" pitchFamily="49" charset="-122"/>
              </a:rPr>
              <a:t>Table of Contents (1/5)</a:t>
            </a:r>
          </a:p>
          <a:p>
            <a:pPr lvl="1"/>
            <a:r>
              <a:rPr lang="en-US" altLang="zh-CN" sz="2000" dirty="0">
                <a:latin typeface="+mj-lt"/>
                <a:ea typeface="仿宋" panose="02010609060101010101" pitchFamily="49" charset="-122"/>
              </a:rPr>
              <a:t>Ch1 Introduction to Computers, Programs, and Java </a:t>
            </a:r>
          </a:p>
          <a:p>
            <a:pPr lvl="1"/>
            <a:r>
              <a:rPr lang="en-US" altLang="zh-CN" sz="2000" dirty="0">
                <a:latin typeface="+mj-lt"/>
                <a:ea typeface="仿宋" panose="02010609060101010101" pitchFamily="49" charset="-122"/>
              </a:rPr>
              <a:t>Ch2 Elementary Programming </a:t>
            </a:r>
          </a:p>
          <a:p>
            <a:pPr lvl="1"/>
            <a:r>
              <a:rPr lang="en-US" altLang="zh-CN" sz="2000" dirty="0">
                <a:latin typeface="+mj-lt"/>
                <a:ea typeface="仿宋" panose="02010609060101010101" pitchFamily="49" charset="-122"/>
              </a:rPr>
              <a:t>Ch3 Selections </a:t>
            </a:r>
          </a:p>
          <a:p>
            <a:pPr lvl="1"/>
            <a:r>
              <a:rPr lang="en-US" altLang="zh-CN" sz="2000" dirty="0">
                <a:latin typeface="+mj-lt"/>
                <a:ea typeface="仿宋" panose="02010609060101010101" pitchFamily="49" charset="-122"/>
              </a:rPr>
              <a:t>Ch4 Mathematical Functions, Characters, and Strings </a:t>
            </a:r>
          </a:p>
          <a:p>
            <a:pPr lvl="1"/>
            <a:r>
              <a:rPr lang="en-US" altLang="zh-CN" sz="2000" dirty="0">
                <a:latin typeface="+mj-lt"/>
                <a:ea typeface="仿宋" panose="02010609060101010101" pitchFamily="49" charset="-122"/>
              </a:rPr>
              <a:t>Ch5 Loops </a:t>
            </a:r>
          </a:p>
          <a:p>
            <a:pPr lvl="1"/>
            <a:r>
              <a:rPr lang="en-US" altLang="zh-CN" sz="2000" dirty="0">
                <a:latin typeface="+mj-lt"/>
                <a:ea typeface="仿宋" panose="02010609060101010101" pitchFamily="49" charset="-122"/>
              </a:rPr>
              <a:t>Ch6 Methods </a:t>
            </a:r>
          </a:p>
          <a:p>
            <a:pPr lvl="1"/>
            <a:r>
              <a:rPr lang="en-US" altLang="zh-CN" sz="2000" dirty="0">
                <a:latin typeface="+mj-lt"/>
                <a:ea typeface="仿宋" panose="02010609060101010101" pitchFamily="49" charset="-122"/>
              </a:rPr>
              <a:t>Ch7 Single-Dimensional Arrays </a:t>
            </a:r>
          </a:p>
          <a:p>
            <a:pPr lvl="1"/>
            <a:r>
              <a:rPr lang="en-US" altLang="zh-CN" sz="2000" dirty="0">
                <a:latin typeface="+mj-lt"/>
                <a:ea typeface="仿宋" panose="02010609060101010101" pitchFamily="49" charset="-122"/>
              </a:rPr>
              <a:t>Ch8 Multidimensional Arrays </a:t>
            </a:r>
            <a:endParaRPr lang="en-US" altLang="zh-CN" sz="2000" dirty="0">
              <a:solidFill>
                <a:srgbClr val="FF0000"/>
              </a:solidFill>
              <a:latin typeface="仿宋" pitchFamily="49" charset="-122"/>
              <a:ea typeface="仿宋" pitchFamily="49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09663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>
                <a:ea typeface="仿宋" panose="02010609060101010101" pitchFamily="49" charset="-122"/>
              </a:rPr>
              <a:t>”Introduction to Java Programming (10th/11th/12th Edition)”</a:t>
            </a:r>
            <a:endParaRPr lang="en-US" sz="3200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altLang="zh-CN" sz="2000" dirty="0">
                <a:latin typeface="+mj-lt"/>
                <a:ea typeface="仿宋" panose="02010609060101010101" pitchFamily="49" charset="-122"/>
              </a:rPr>
              <a:t>Table of Contents (2/5)</a:t>
            </a:r>
          </a:p>
          <a:p>
            <a:pPr lvl="1"/>
            <a:r>
              <a:rPr lang="en-US" altLang="zh-CN" sz="2000" dirty="0">
                <a:latin typeface="+mj-lt"/>
                <a:ea typeface="仿宋" panose="02010609060101010101" pitchFamily="49" charset="-122"/>
              </a:rPr>
              <a:t>Ch9 Objects and Classes </a:t>
            </a:r>
          </a:p>
          <a:p>
            <a:pPr lvl="1"/>
            <a:r>
              <a:rPr lang="en-US" altLang="zh-CN" sz="2000" dirty="0">
                <a:latin typeface="+mj-lt"/>
                <a:ea typeface="仿宋" panose="02010609060101010101" pitchFamily="49" charset="-122"/>
              </a:rPr>
              <a:t>Ch10 Object-Oriented Thinking </a:t>
            </a:r>
          </a:p>
          <a:p>
            <a:pPr lvl="1"/>
            <a:r>
              <a:rPr lang="en-US" altLang="zh-CN" sz="2000" dirty="0">
                <a:latin typeface="+mj-lt"/>
                <a:ea typeface="仿宋" panose="02010609060101010101" pitchFamily="49" charset="-122"/>
              </a:rPr>
              <a:t>Ch11 Inheritance and Polymorphism </a:t>
            </a:r>
          </a:p>
          <a:p>
            <a:pPr lvl="1"/>
            <a:r>
              <a:rPr lang="en-US" altLang="zh-CN" sz="2000" dirty="0">
                <a:latin typeface="+mj-lt"/>
                <a:ea typeface="仿宋" panose="02010609060101010101" pitchFamily="49" charset="-122"/>
              </a:rPr>
              <a:t>Ch12 Exception Handling and Text I/O </a:t>
            </a:r>
          </a:p>
          <a:p>
            <a:pPr lvl="1"/>
            <a:r>
              <a:rPr lang="en-US" altLang="zh-CN" sz="2000" dirty="0">
                <a:latin typeface="+mj-lt"/>
                <a:ea typeface="仿宋" panose="02010609060101010101" pitchFamily="49" charset="-122"/>
              </a:rPr>
              <a:t>Ch13 Abstract Classes and Interfaces</a:t>
            </a:r>
          </a:p>
          <a:p>
            <a:pPr lvl="1"/>
            <a:endParaRPr lang="en-US" altLang="zh-CN" sz="2000" dirty="0">
              <a:latin typeface="+mj-lt"/>
              <a:ea typeface="仿宋" panose="02010609060101010101" pitchFamily="49" charset="-122"/>
            </a:endParaRPr>
          </a:p>
          <a:p>
            <a:pPr lvl="1"/>
            <a:r>
              <a:rPr lang="en-US" altLang="zh-CN" sz="2000" dirty="0">
                <a:ea typeface="仿宋" panose="02010609060101010101" pitchFamily="49" charset="-122"/>
              </a:rPr>
              <a:t>Ch14 </a:t>
            </a:r>
            <a:r>
              <a:rPr lang="en-US" altLang="zh-CN" sz="2000" dirty="0" err="1">
                <a:ea typeface="仿宋" panose="02010609060101010101" pitchFamily="49" charset="-122"/>
              </a:rPr>
              <a:t>JavaFX</a:t>
            </a:r>
            <a:r>
              <a:rPr lang="en-US" altLang="zh-CN" sz="2000" dirty="0">
                <a:ea typeface="仿宋" panose="02010609060101010101" pitchFamily="49" charset="-122"/>
              </a:rPr>
              <a:t> Basics</a:t>
            </a:r>
          </a:p>
          <a:p>
            <a:pPr lvl="1"/>
            <a:r>
              <a:rPr lang="en-US" altLang="zh-CN" sz="2000" dirty="0">
                <a:ea typeface="仿宋" panose="02010609060101010101" pitchFamily="49" charset="-122"/>
              </a:rPr>
              <a:t>Ch15 Event-Driven Programming and Animations </a:t>
            </a:r>
          </a:p>
          <a:p>
            <a:pPr lvl="1"/>
            <a:r>
              <a:rPr lang="en-US" altLang="zh-CN" sz="2000" dirty="0">
                <a:ea typeface="仿宋" panose="02010609060101010101" pitchFamily="49" charset="-122"/>
              </a:rPr>
              <a:t>Ch16 </a:t>
            </a:r>
            <a:r>
              <a:rPr lang="en-US" altLang="zh-CN" sz="2000" dirty="0" err="1">
                <a:ea typeface="仿宋" panose="02010609060101010101" pitchFamily="49" charset="-122"/>
              </a:rPr>
              <a:t>JavaFX</a:t>
            </a:r>
            <a:r>
              <a:rPr lang="en-US" altLang="zh-CN" sz="2000" dirty="0">
                <a:ea typeface="仿宋" panose="02010609060101010101" pitchFamily="49" charset="-122"/>
              </a:rPr>
              <a:t> UI Controls and Multimedia</a:t>
            </a:r>
          </a:p>
          <a:p>
            <a:pPr lvl="1"/>
            <a:r>
              <a:rPr lang="en-US" altLang="zh-CN" sz="2000" dirty="0">
                <a:ea typeface="仿宋" panose="02010609060101010101" pitchFamily="49" charset="-122"/>
              </a:rPr>
              <a:t>Ch17 Binary I/O </a:t>
            </a:r>
          </a:p>
          <a:p>
            <a:pPr lvl="1"/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ea typeface="仿宋" panose="02010609060101010101" pitchFamily="49" charset="-122"/>
              </a:rPr>
              <a:t>Ch18 Recursion (</a:t>
            </a:r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  <a:ea typeface="仿宋" panose="02010609060101010101" pitchFamily="49" charset="-122"/>
              </a:rPr>
              <a:t>不要求</a:t>
            </a:r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ea typeface="仿宋" panose="02010609060101010101" pitchFamily="49" charset="-122"/>
              </a:rPr>
              <a:t>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09663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>
                <a:ea typeface="仿宋" panose="02010609060101010101" pitchFamily="49" charset="-122"/>
              </a:rPr>
              <a:t>”Introduction to Java Programming (10th/11th/12th Edition)”</a:t>
            </a:r>
            <a:endParaRPr lang="en-US" sz="3200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altLang="zh-CN" sz="2000" dirty="0">
                <a:latin typeface="+mj-lt"/>
                <a:ea typeface="仿宋" panose="02010609060101010101" pitchFamily="49" charset="-122"/>
              </a:rPr>
              <a:t>Table of Contents (3/5)</a:t>
            </a:r>
          </a:p>
          <a:p>
            <a:pPr lvl="1"/>
            <a:r>
              <a:rPr lang="en-US" altLang="zh-CN" sz="2000" dirty="0">
                <a:latin typeface="+mj-lt"/>
                <a:ea typeface="仿宋" panose="02010609060101010101" pitchFamily="49" charset="-122"/>
              </a:rPr>
              <a:t>Ch19 Generics </a:t>
            </a:r>
          </a:p>
          <a:p>
            <a:pPr lvl="1"/>
            <a:r>
              <a:rPr lang="en-US" altLang="zh-CN" sz="2000" dirty="0">
                <a:latin typeface="+mj-lt"/>
                <a:ea typeface="仿宋" panose="02010609060101010101" pitchFamily="49" charset="-122"/>
              </a:rPr>
              <a:t>Ch20 Lists, Stacks, Queues, and Priority Queues </a:t>
            </a:r>
          </a:p>
          <a:p>
            <a:pPr lvl="1"/>
            <a:r>
              <a:rPr lang="en-US" altLang="zh-CN" sz="2000" dirty="0">
                <a:latin typeface="+mj-lt"/>
                <a:ea typeface="仿宋" panose="02010609060101010101" pitchFamily="49" charset="-122"/>
              </a:rPr>
              <a:t>Ch21 Sets and Maps </a:t>
            </a:r>
          </a:p>
          <a:p>
            <a:pPr lvl="1"/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+mj-lt"/>
                <a:ea typeface="仿宋" panose="02010609060101010101" pitchFamily="49" charset="-122"/>
              </a:rPr>
              <a:t>Ch22 Developing Efficient Algorithms</a:t>
            </a:r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ea typeface="仿宋" panose="02010609060101010101" pitchFamily="49" charset="-122"/>
              </a:rPr>
              <a:t> (</a:t>
            </a:r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  <a:ea typeface="仿宋" panose="02010609060101010101" pitchFamily="49" charset="-122"/>
              </a:rPr>
              <a:t>不要求</a:t>
            </a:r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ea typeface="仿宋" panose="02010609060101010101" pitchFamily="49" charset="-122"/>
              </a:rPr>
              <a:t>)</a:t>
            </a:r>
            <a:endParaRPr lang="en-US" altLang="zh-CN" sz="2000" dirty="0">
              <a:solidFill>
                <a:schemeClr val="bg1">
                  <a:lumMod val="50000"/>
                </a:schemeClr>
              </a:solidFill>
              <a:latin typeface="+mj-lt"/>
              <a:ea typeface="仿宋" panose="02010609060101010101" pitchFamily="49" charset="-122"/>
            </a:endParaRPr>
          </a:p>
          <a:p>
            <a:pPr lvl="1"/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+mj-lt"/>
                <a:ea typeface="仿宋" panose="02010609060101010101" pitchFamily="49" charset="-122"/>
              </a:rPr>
              <a:t>Ch23 Sorting</a:t>
            </a:r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ea typeface="仿宋" panose="02010609060101010101" pitchFamily="49" charset="-122"/>
              </a:rPr>
              <a:t> (</a:t>
            </a:r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  <a:ea typeface="仿宋" panose="02010609060101010101" pitchFamily="49" charset="-122"/>
              </a:rPr>
              <a:t>不要求</a:t>
            </a:r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ea typeface="仿宋" panose="02010609060101010101" pitchFamily="49" charset="-122"/>
              </a:rPr>
              <a:t>)</a:t>
            </a:r>
            <a:endParaRPr lang="en-US" altLang="zh-CN" sz="2000" dirty="0">
              <a:solidFill>
                <a:schemeClr val="bg1">
                  <a:lumMod val="50000"/>
                </a:schemeClr>
              </a:solidFill>
              <a:latin typeface="+mj-lt"/>
              <a:ea typeface="仿宋" panose="02010609060101010101" pitchFamily="49" charset="-122"/>
            </a:endParaRPr>
          </a:p>
          <a:p>
            <a:pPr lvl="1"/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ea typeface="仿宋" panose="02010609060101010101" pitchFamily="49" charset="-122"/>
              </a:rPr>
              <a:t>Ch24 Implementing Lists, Stacks, Queues, and Priority Queues (</a:t>
            </a:r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  <a:ea typeface="仿宋" panose="02010609060101010101" pitchFamily="49" charset="-122"/>
              </a:rPr>
              <a:t>不要求</a:t>
            </a:r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ea typeface="仿宋" panose="02010609060101010101" pitchFamily="49" charset="-122"/>
              </a:rPr>
              <a:t>) </a:t>
            </a:r>
          </a:p>
          <a:p>
            <a:pPr lvl="1"/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ea typeface="仿宋" panose="02010609060101010101" pitchFamily="49" charset="-122"/>
              </a:rPr>
              <a:t>Ch25 Binary Search Trees (</a:t>
            </a:r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  <a:ea typeface="仿宋" panose="02010609060101010101" pitchFamily="49" charset="-122"/>
              </a:rPr>
              <a:t>不要求</a:t>
            </a:r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ea typeface="仿宋" panose="02010609060101010101" pitchFamily="49" charset="-122"/>
              </a:rPr>
              <a:t>)</a:t>
            </a:r>
          </a:p>
          <a:p>
            <a:pPr lvl="1"/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ea typeface="仿宋" panose="02010609060101010101" pitchFamily="49" charset="-122"/>
              </a:rPr>
              <a:t>Ch26 AVL Trees (</a:t>
            </a:r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  <a:ea typeface="仿宋" panose="02010609060101010101" pitchFamily="49" charset="-122"/>
              </a:rPr>
              <a:t>不要求</a:t>
            </a:r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ea typeface="仿宋" panose="02010609060101010101" pitchFamily="49" charset="-122"/>
              </a:rPr>
              <a:t>)</a:t>
            </a:r>
          </a:p>
          <a:p>
            <a:pPr lvl="1"/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ea typeface="仿宋" panose="02010609060101010101" pitchFamily="49" charset="-122"/>
              </a:rPr>
              <a:t>Ch27 Hashing (</a:t>
            </a:r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  <a:ea typeface="仿宋" panose="02010609060101010101" pitchFamily="49" charset="-122"/>
              </a:rPr>
              <a:t>不要求</a:t>
            </a:r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ea typeface="仿宋" panose="02010609060101010101" pitchFamily="49" charset="-122"/>
              </a:rPr>
              <a:t>)</a:t>
            </a:r>
          </a:p>
          <a:p>
            <a:pPr lvl="1"/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ea typeface="仿宋" panose="02010609060101010101" pitchFamily="49" charset="-122"/>
              </a:rPr>
              <a:t>Ch28 Graphs and Applications (</a:t>
            </a:r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  <a:ea typeface="仿宋" panose="02010609060101010101" pitchFamily="49" charset="-122"/>
              </a:rPr>
              <a:t>不要求</a:t>
            </a:r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ea typeface="仿宋" panose="02010609060101010101" pitchFamily="49" charset="-122"/>
              </a:rPr>
              <a:t>)</a:t>
            </a:r>
          </a:p>
          <a:p>
            <a:pPr lvl="1"/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ea typeface="仿宋" panose="02010609060101010101" pitchFamily="49" charset="-122"/>
              </a:rPr>
              <a:t>Ch29 Weighted Graphs and Applications (</a:t>
            </a:r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  <a:ea typeface="仿宋" panose="02010609060101010101" pitchFamily="49" charset="-122"/>
              </a:rPr>
              <a:t>不要求</a:t>
            </a:r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ea typeface="仿宋" panose="02010609060101010101" pitchFamily="49" charset="-122"/>
              </a:rPr>
              <a:t>)</a:t>
            </a:r>
          </a:p>
          <a:p>
            <a:pPr lvl="1"/>
            <a:endParaRPr lang="en-US" altLang="zh-CN" sz="2000" dirty="0">
              <a:solidFill>
                <a:schemeClr val="bg1">
                  <a:lumMod val="50000"/>
                </a:schemeClr>
              </a:solidFill>
              <a:latin typeface="仿宋" pitchFamily="49" charset="-122"/>
              <a:ea typeface="仿宋" pitchFamily="49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09663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>
                <a:ea typeface="仿宋" panose="02010609060101010101" pitchFamily="49" charset="-122"/>
              </a:rPr>
              <a:t>”Introduction to Java Programming (10th/11th/12th Edition)”</a:t>
            </a:r>
            <a:endParaRPr lang="en-US" sz="3200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altLang="zh-CN" sz="2000" dirty="0">
                <a:latin typeface="+mj-lt"/>
                <a:ea typeface="仿宋" panose="02010609060101010101" pitchFamily="49" charset="-122"/>
              </a:rPr>
              <a:t>Table of Contents (4/5)</a:t>
            </a:r>
          </a:p>
          <a:p>
            <a:pPr lvl="1">
              <a:buNone/>
            </a:pPr>
            <a:r>
              <a:rPr lang="en-US" altLang="zh-CN" sz="2000" dirty="0">
                <a:solidFill>
                  <a:srgbClr val="FF0000"/>
                </a:solidFill>
                <a:latin typeface="+mj-lt"/>
                <a:ea typeface="仿宋" panose="02010609060101010101" pitchFamily="49" charset="-122"/>
              </a:rPr>
              <a:t>10th Edition:</a:t>
            </a:r>
          </a:p>
          <a:p>
            <a:pPr lvl="1"/>
            <a:r>
              <a:rPr lang="en-US" altLang="zh-CN" sz="2000" dirty="0">
                <a:latin typeface="+mj-lt"/>
                <a:ea typeface="仿宋" panose="02010609060101010101" pitchFamily="49" charset="-122"/>
              </a:rPr>
              <a:t>Ch30 Multithreading and Parallel Programming </a:t>
            </a:r>
          </a:p>
          <a:p>
            <a:pPr lvl="1"/>
            <a:r>
              <a:rPr lang="en-US" altLang="zh-CN" sz="2000" dirty="0">
                <a:latin typeface="+mj-lt"/>
                <a:ea typeface="仿宋" panose="02010609060101010101" pitchFamily="49" charset="-122"/>
              </a:rPr>
              <a:t>Ch31 Networking </a:t>
            </a:r>
          </a:p>
          <a:p>
            <a:pPr lvl="1"/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+mj-lt"/>
                <a:ea typeface="仿宋" panose="02010609060101010101" pitchFamily="49" charset="-122"/>
              </a:rPr>
              <a:t>Ch32 Java Database Programming</a:t>
            </a:r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ea typeface="仿宋" panose="02010609060101010101" pitchFamily="49" charset="-122"/>
              </a:rPr>
              <a:t> (</a:t>
            </a:r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  <a:ea typeface="仿宋" panose="02010609060101010101" pitchFamily="49" charset="-122"/>
              </a:rPr>
              <a:t>不要求</a:t>
            </a:r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ea typeface="仿宋" panose="02010609060101010101" pitchFamily="49" charset="-122"/>
              </a:rPr>
              <a:t>)</a:t>
            </a:r>
            <a:endParaRPr lang="en-US" altLang="zh-CN" sz="2000" dirty="0">
              <a:solidFill>
                <a:schemeClr val="bg1">
                  <a:lumMod val="50000"/>
                </a:schemeClr>
              </a:solidFill>
              <a:latin typeface="+mj-lt"/>
              <a:ea typeface="仿宋" panose="02010609060101010101" pitchFamily="49" charset="-122"/>
            </a:endParaRPr>
          </a:p>
          <a:p>
            <a:pPr lvl="1"/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+mj-lt"/>
                <a:ea typeface="仿宋" panose="02010609060101010101" pitchFamily="49" charset="-122"/>
              </a:rPr>
              <a:t>Ch33 </a:t>
            </a:r>
            <a:r>
              <a:rPr lang="en-US" altLang="zh-CN" sz="2000" dirty="0" err="1">
                <a:solidFill>
                  <a:schemeClr val="bg1">
                    <a:lumMod val="50000"/>
                  </a:schemeClr>
                </a:solidFill>
                <a:latin typeface="+mj-lt"/>
                <a:ea typeface="仿宋" panose="02010609060101010101" pitchFamily="49" charset="-122"/>
              </a:rPr>
              <a:t>JavaServer</a:t>
            </a:r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+mj-lt"/>
                <a:ea typeface="仿宋" panose="02010609060101010101" pitchFamily="49" charset="-122"/>
              </a:rPr>
              <a:t> Faces</a:t>
            </a:r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ea typeface="仿宋" panose="02010609060101010101" pitchFamily="49" charset="-122"/>
              </a:rPr>
              <a:t> (</a:t>
            </a:r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  <a:ea typeface="仿宋" panose="02010609060101010101" pitchFamily="49" charset="-122"/>
              </a:rPr>
              <a:t>不要求</a:t>
            </a:r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ea typeface="仿宋" panose="02010609060101010101" pitchFamily="49" charset="-122"/>
              </a:rPr>
              <a:t>)</a:t>
            </a:r>
            <a:endParaRPr lang="en-US" altLang="zh-CN" sz="2000" dirty="0">
              <a:solidFill>
                <a:schemeClr val="bg1">
                  <a:lumMod val="50000"/>
                </a:schemeClr>
              </a:solidFill>
              <a:latin typeface="+mj-lt"/>
              <a:ea typeface="仿宋" panose="02010609060101010101" pitchFamily="49" charset="-122"/>
            </a:endParaRPr>
          </a:p>
          <a:p>
            <a:pPr lvl="1">
              <a:buNone/>
            </a:pPr>
            <a:endParaRPr lang="en-US" altLang="zh-CN" sz="2000" dirty="0">
              <a:solidFill>
                <a:srgbClr val="0000FF"/>
              </a:solidFill>
              <a:ea typeface="仿宋" panose="02010609060101010101" pitchFamily="49" charset="-122"/>
            </a:endParaRPr>
          </a:p>
          <a:p>
            <a:pPr lvl="1">
              <a:buNone/>
            </a:pPr>
            <a:r>
              <a:rPr lang="en-US" altLang="zh-CN" sz="2000" dirty="0">
                <a:solidFill>
                  <a:srgbClr val="0000FF"/>
                </a:solidFill>
                <a:ea typeface="仿宋" panose="02010609060101010101" pitchFamily="49" charset="-122"/>
              </a:rPr>
              <a:t>11th/12th Edition:</a:t>
            </a:r>
          </a:p>
          <a:p>
            <a:pPr lvl="1"/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ea typeface="仿宋" panose="02010609060101010101" pitchFamily="49" charset="-122"/>
              </a:rPr>
              <a:t>Ch 30 Aggregate Operations for Collection Streams (</a:t>
            </a:r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  <a:ea typeface="仿宋" panose="02010609060101010101" pitchFamily="49" charset="-122"/>
              </a:rPr>
              <a:t>不要求</a:t>
            </a:r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ea typeface="仿宋" panose="02010609060101010101" pitchFamily="49" charset="-122"/>
              </a:rPr>
              <a:t>)</a:t>
            </a:r>
          </a:p>
          <a:p>
            <a:pPr lvl="1"/>
            <a:endParaRPr lang="en-US" altLang="zh-CN" sz="2000" dirty="0">
              <a:solidFill>
                <a:schemeClr val="bg1">
                  <a:lumMod val="50000"/>
                </a:schemeClr>
              </a:solidFill>
              <a:latin typeface="仿宋" pitchFamily="49" charset="-122"/>
              <a:ea typeface="仿宋" pitchFamily="49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09663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>
                <a:ea typeface="仿宋" panose="02010609060101010101" pitchFamily="49" charset="-122"/>
              </a:rPr>
              <a:t>”Introduction to Java Programming </a:t>
            </a:r>
            <a:br>
              <a:rPr lang="en-US" altLang="zh-CN" sz="3200" dirty="0">
                <a:ea typeface="仿宋" panose="02010609060101010101" pitchFamily="49" charset="-122"/>
              </a:rPr>
            </a:br>
            <a:r>
              <a:rPr lang="en-US" altLang="zh-CN" sz="3200" dirty="0">
                <a:ea typeface="仿宋" panose="02010609060101010101" pitchFamily="49" charset="-122"/>
              </a:rPr>
              <a:t>(10th Edition)”</a:t>
            </a:r>
            <a:endParaRPr lang="en-US" sz="3200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altLang="zh-CN" sz="2000" dirty="0">
                <a:latin typeface="+mj-lt"/>
                <a:ea typeface="仿宋" panose="02010609060101010101" pitchFamily="49" charset="-122"/>
              </a:rPr>
              <a:t>Table of Contents (5/5)</a:t>
            </a:r>
          </a:p>
          <a:p>
            <a:pPr lvl="1"/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+mj-lt"/>
                <a:ea typeface="仿宋" panose="02010609060101010101" pitchFamily="49" charset="-122"/>
              </a:rPr>
              <a:t>Ch34 Advanced </a:t>
            </a:r>
            <a:r>
              <a:rPr lang="en-US" altLang="zh-CN" sz="2000" dirty="0" err="1">
                <a:solidFill>
                  <a:schemeClr val="bg1">
                    <a:lumMod val="50000"/>
                  </a:schemeClr>
                </a:solidFill>
                <a:latin typeface="+mj-lt"/>
                <a:ea typeface="仿宋" panose="02010609060101010101" pitchFamily="49" charset="-122"/>
              </a:rPr>
              <a:t>JavaFX</a:t>
            </a:r>
            <a:endParaRPr lang="en-US" altLang="zh-CN" sz="2000" dirty="0">
              <a:solidFill>
                <a:schemeClr val="bg1">
                  <a:lumMod val="50000"/>
                </a:schemeClr>
              </a:solidFill>
              <a:latin typeface="+mj-lt"/>
              <a:ea typeface="仿宋" panose="02010609060101010101" pitchFamily="49" charset="-122"/>
            </a:endParaRPr>
          </a:p>
          <a:p>
            <a:pPr lvl="1"/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+mj-lt"/>
                <a:ea typeface="仿宋" panose="02010609060101010101" pitchFamily="49" charset="-122"/>
              </a:rPr>
              <a:t>Ch35 Advanced Database Programming </a:t>
            </a:r>
          </a:p>
          <a:p>
            <a:pPr lvl="1"/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+mj-lt"/>
                <a:ea typeface="仿宋" panose="02010609060101010101" pitchFamily="49" charset="-122"/>
              </a:rPr>
              <a:t>Ch36 Internationalization </a:t>
            </a:r>
          </a:p>
          <a:p>
            <a:pPr lvl="1"/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+mj-lt"/>
                <a:ea typeface="仿宋" panose="02010609060101010101" pitchFamily="49" charset="-122"/>
              </a:rPr>
              <a:t>Ch37 </a:t>
            </a:r>
            <a:r>
              <a:rPr lang="en-US" altLang="zh-CN" sz="2000" dirty="0" err="1">
                <a:solidFill>
                  <a:schemeClr val="bg1">
                    <a:lumMod val="50000"/>
                  </a:schemeClr>
                </a:solidFill>
                <a:latin typeface="+mj-lt"/>
                <a:ea typeface="仿宋" panose="02010609060101010101" pitchFamily="49" charset="-122"/>
              </a:rPr>
              <a:t>Servlets</a:t>
            </a:r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+mj-lt"/>
                <a:ea typeface="仿宋" panose="02010609060101010101" pitchFamily="49" charset="-122"/>
              </a:rPr>
              <a:t> </a:t>
            </a:r>
          </a:p>
          <a:p>
            <a:pPr lvl="1"/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+mj-lt"/>
                <a:ea typeface="仿宋" panose="02010609060101010101" pitchFamily="49" charset="-122"/>
              </a:rPr>
              <a:t>Ch38 </a:t>
            </a:r>
            <a:r>
              <a:rPr lang="en-US" altLang="zh-CN" sz="2000" dirty="0" err="1">
                <a:solidFill>
                  <a:schemeClr val="bg1">
                    <a:lumMod val="50000"/>
                  </a:schemeClr>
                </a:solidFill>
                <a:latin typeface="+mj-lt"/>
                <a:ea typeface="仿宋" panose="02010609060101010101" pitchFamily="49" charset="-122"/>
              </a:rPr>
              <a:t>JavaServer</a:t>
            </a:r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+mj-lt"/>
                <a:ea typeface="仿宋" panose="02010609060101010101" pitchFamily="49" charset="-122"/>
              </a:rPr>
              <a:t> Pages </a:t>
            </a:r>
          </a:p>
          <a:p>
            <a:pPr lvl="1"/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+mj-lt"/>
                <a:ea typeface="仿宋" panose="02010609060101010101" pitchFamily="49" charset="-122"/>
              </a:rPr>
              <a:t>Ch39 Web Services </a:t>
            </a:r>
          </a:p>
          <a:p>
            <a:pPr lvl="1"/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+mj-lt"/>
                <a:ea typeface="仿宋" panose="02010609060101010101" pitchFamily="49" charset="-122"/>
              </a:rPr>
              <a:t>Ch40 2-4 Trees and B-Trees </a:t>
            </a:r>
          </a:p>
          <a:p>
            <a:pPr lvl="1"/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+mj-lt"/>
                <a:ea typeface="仿宋" panose="02010609060101010101" pitchFamily="49" charset="-122"/>
              </a:rPr>
              <a:t>Ch41 Red-Black Trees </a:t>
            </a:r>
          </a:p>
          <a:p>
            <a:pPr lvl="1"/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+mj-lt"/>
                <a:ea typeface="仿宋" panose="02010609060101010101" pitchFamily="49" charset="-122"/>
              </a:rPr>
              <a:t>Ch42 Testing Using </a:t>
            </a:r>
            <a:r>
              <a:rPr lang="en-US" altLang="zh-CN" sz="2000" dirty="0" err="1">
                <a:solidFill>
                  <a:schemeClr val="bg1">
                    <a:lumMod val="50000"/>
                  </a:schemeClr>
                </a:solidFill>
                <a:latin typeface="+mj-lt"/>
                <a:ea typeface="仿宋" panose="02010609060101010101" pitchFamily="49" charset="-122"/>
              </a:rPr>
              <a:t>JUnit</a:t>
            </a:r>
            <a:endParaRPr lang="en-US" altLang="zh-CN" sz="2000" dirty="0">
              <a:solidFill>
                <a:schemeClr val="bg1">
                  <a:lumMod val="50000"/>
                </a:schemeClr>
              </a:solidFill>
              <a:latin typeface="仿宋" pitchFamily="49" charset="-122"/>
              <a:ea typeface="仿宋" pitchFamily="49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09663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zh-CN" altLang="en-US" sz="3200" dirty="0">
                <a:latin typeface="仿宋" panose="02010609060101010101" pitchFamily="49" charset="-122"/>
                <a:ea typeface="仿宋" panose="02010609060101010101" pitchFamily="49" charset="-122"/>
              </a:rPr>
              <a:t>成绩评定</a:t>
            </a:r>
            <a:endParaRPr lang="en-US" sz="3200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</a:rPr>
              <a:t>课程实验</a:t>
            </a:r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</a:rPr>
              <a:t>(</a:t>
            </a:r>
            <a:r>
              <a:rPr lang="en-US" altLang="zh-CN" sz="2000" dirty="0">
                <a:solidFill>
                  <a:srgbClr val="FF0000"/>
                </a:solidFill>
                <a:latin typeface="+mj-lt"/>
                <a:ea typeface="仿宋" panose="02010609060101010101" pitchFamily="49" charset="-122"/>
              </a:rPr>
              <a:t>30%</a:t>
            </a:r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</a:rPr>
              <a:t>)</a:t>
            </a:r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</a:rPr>
              <a:t>：由主讲教师自行从</a:t>
            </a:r>
            <a:r>
              <a:rPr lang="en-US" altLang="zh-CN" sz="2000" dirty="0">
                <a:latin typeface="+mj-lt"/>
                <a:ea typeface="仿宋" panose="02010609060101010101" pitchFamily="49" charset="-122"/>
              </a:rPr>
              <a:t>6</a:t>
            </a:r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</a:rPr>
              <a:t>次“必实验”统计</a:t>
            </a:r>
          </a:p>
          <a:p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</a:rPr>
              <a:t>课程作业</a:t>
            </a:r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</a:rPr>
              <a:t>(</a:t>
            </a:r>
            <a:r>
              <a:rPr lang="en-US" altLang="zh-CN" sz="2000" dirty="0">
                <a:solidFill>
                  <a:srgbClr val="FF0000"/>
                </a:solidFill>
                <a:latin typeface="+mj-lt"/>
                <a:ea typeface="仿宋" panose="02010609060101010101" pitchFamily="49" charset="-122"/>
              </a:rPr>
              <a:t>10%</a:t>
            </a:r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</a:rPr>
              <a:t>)</a:t>
            </a:r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</a:rPr>
              <a:t>：由主讲教师自行从</a:t>
            </a:r>
            <a:r>
              <a:rPr lang="en-US" altLang="zh-CN" sz="2000" dirty="0">
                <a:latin typeface="+mj-lt"/>
                <a:ea typeface="仿宋" panose="02010609060101010101" pitchFamily="49" charset="-122"/>
              </a:rPr>
              <a:t>6</a:t>
            </a:r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</a:rPr>
              <a:t>次“选实验”统计</a:t>
            </a:r>
          </a:p>
          <a:p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</a:rPr>
              <a:t>课程视频</a:t>
            </a:r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</a:rPr>
              <a:t>(</a:t>
            </a:r>
            <a:r>
              <a:rPr lang="en-US" altLang="zh-CN" sz="2000" dirty="0">
                <a:solidFill>
                  <a:srgbClr val="FF0000"/>
                </a:solidFill>
                <a:latin typeface="+mj-lt"/>
                <a:ea typeface="仿宋" panose="02010609060101010101" pitchFamily="49" charset="-122"/>
              </a:rPr>
              <a:t>10%</a:t>
            </a:r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</a:rPr>
              <a:t>)【</a:t>
            </a:r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</a:rPr>
              <a:t>根据</a:t>
            </a:r>
            <a:r>
              <a:rPr lang="en-US" altLang="zh-CN" sz="2000" dirty="0">
                <a:latin typeface="+mj-lt"/>
                <a:ea typeface="仿宋" panose="02010609060101010101" pitchFamily="49" charset="-122"/>
              </a:rPr>
              <a:t>MOOC</a:t>
            </a:r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</a:rPr>
              <a:t>网站导出的数据</a:t>
            </a:r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</a:rPr>
              <a:t>】</a:t>
            </a:r>
          </a:p>
          <a:p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</a:rPr>
              <a:t>课程测验</a:t>
            </a:r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</a:rPr>
              <a:t>(</a:t>
            </a:r>
            <a:r>
              <a:rPr lang="en-US" altLang="zh-CN" sz="2000" dirty="0">
                <a:solidFill>
                  <a:srgbClr val="FF0000"/>
                </a:solidFill>
                <a:latin typeface="+mj-lt"/>
                <a:ea typeface="仿宋" panose="02010609060101010101" pitchFamily="49" charset="-122"/>
              </a:rPr>
              <a:t>5%</a:t>
            </a:r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</a:rPr>
              <a:t>)【</a:t>
            </a:r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</a:rPr>
              <a:t>根据</a:t>
            </a:r>
            <a:r>
              <a:rPr lang="en-US" altLang="zh-CN" sz="2000" dirty="0">
                <a:latin typeface="+mj-lt"/>
                <a:ea typeface="仿宋" panose="02010609060101010101" pitchFamily="49" charset="-122"/>
              </a:rPr>
              <a:t>MOOC</a:t>
            </a:r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</a:rPr>
              <a:t>网站导出的数据</a:t>
            </a:r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</a:rPr>
              <a:t>】</a:t>
            </a:r>
          </a:p>
          <a:p>
            <a:r>
              <a:rPr lang="zh-CN" altLang="en-US" sz="2000">
                <a:latin typeface="仿宋" panose="02010609060101010101" pitchFamily="49" charset="-122"/>
                <a:ea typeface="仿宋" panose="02010609060101010101" pitchFamily="49" charset="-122"/>
              </a:rPr>
              <a:t>课堂讨论</a:t>
            </a:r>
            <a:r>
              <a:rPr lang="en-US" altLang="zh-CN" sz="2000">
                <a:latin typeface="仿宋" panose="02010609060101010101" pitchFamily="49" charset="-122"/>
                <a:ea typeface="仿宋" panose="02010609060101010101" pitchFamily="49" charset="-122"/>
              </a:rPr>
              <a:t>(</a:t>
            </a:r>
            <a:r>
              <a:rPr lang="en-US" altLang="zh-CN" sz="2000">
                <a:solidFill>
                  <a:srgbClr val="FF0000"/>
                </a:solidFill>
                <a:latin typeface="+mj-lt"/>
                <a:ea typeface="仿宋" panose="02010609060101010101" pitchFamily="49" charset="-122"/>
              </a:rPr>
              <a:t>5</a:t>
            </a:r>
            <a:r>
              <a:rPr lang="en-US" altLang="zh-CN" sz="2000" dirty="0">
                <a:solidFill>
                  <a:srgbClr val="FF0000"/>
                </a:solidFill>
                <a:latin typeface="+mj-lt"/>
                <a:ea typeface="仿宋" panose="02010609060101010101" pitchFamily="49" charset="-122"/>
              </a:rPr>
              <a:t>%</a:t>
            </a:r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</a:rPr>
              <a:t>)</a:t>
            </a:r>
          </a:p>
          <a:p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</a:rPr>
              <a:t>线上期末考试</a:t>
            </a:r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</a:rPr>
              <a:t>(</a:t>
            </a:r>
            <a:r>
              <a:rPr lang="en-US" altLang="zh-CN" sz="2000" dirty="0">
                <a:solidFill>
                  <a:srgbClr val="FF0000"/>
                </a:solidFill>
                <a:latin typeface="+mj-lt"/>
                <a:ea typeface="仿宋" panose="02010609060101010101" pitchFamily="49" charset="-122"/>
              </a:rPr>
              <a:t>10%</a:t>
            </a:r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</a:rPr>
              <a:t>)【</a:t>
            </a:r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</a:rPr>
              <a:t>根据</a:t>
            </a:r>
            <a:r>
              <a:rPr lang="en-US" altLang="zh-CN" sz="2000" dirty="0">
                <a:latin typeface="+mj-lt"/>
                <a:ea typeface="仿宋" panose="02010609060101010101" pitchFamily="49" charset="-122"/>
              </a:rPr>
              <a:t>MOOC</a:t>
            </a:r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</a:rPr>
              <a:t>网站导出的数据</a:t>
            </a:r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</a:rPr>
              <a:t>】</a:t>
            </a:r>
          </a:p>
          <a:p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</a:rPr>
              <a:t>线下期末考试</a:t>
            </a:r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</a:rPr>
              <a:t>(</a:t>
            </a:r>
            <a:r>
              <a:rPr lang="en-US" altLang="zh-CN" sz="2000" dirty="0">
                <a:solidFill>
                  <a:srgbClr val="FF0000"/>
                </a:solidFill>
                <a:latin typeface="+mj-lt"/>
                <a:ea typeface="仿宋" panose="02010609060101010101" pitchFamily="49" charset="-122"/>
              </a:rPr>
              <a:t>30%</a:t>
            </a:r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</a:rPr>
              <a:t>)</a:t>
            </a:r>
          </a:p>
          <a:p>
            <a:endParaRPr lang="en-US" altLang="zh-CN" sz="2000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09663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zh-CN" altLang="en-US" sz="3200" dirty="0">
                <a:latin typeface="仿宋" panose="02010609060101010101" pitchFamily="49" charset="-122"/>
                <a:ea typeface="仿宋" panose="02010609060101010101" pitchFamily="49" charset="-122"/>
              </a:rPr>
              <a:t>特别说明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</a:rPr>
              <a:t>感谢：教材</a:t>
            </a:r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</a:rPr>
              <a:t>《</a:t>
            </a:r>
            <a:r>
              <a:rPr lang="en-US" altLang="zh-CN" sz="2000" dirty="0">
                <a:ea typeface="仿宋" panose="02010609060101010101" pitchFamily="49" charset="-122"/>
              </a:rPr>
              <a:t>Java</a:t>
            </a:r>
            <a:r>
              <a:rPr lang="zh-CN" altLang="en-US" sz="2000" dirty="0">
                <a:ea typeface="仿宋" panose="02010609060101010101" pitchFamily="49" charset="-122"/>
              </a:rPr>
              <a:t>大学实用教程</a:t>
            </a:r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</a:rPr>
              <a:t>》</a:t>
            </a:r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</a:rPr>
              <a:t>的作者在华信教育资源网提供</a:t>
            </a:r>
            <a:r>
              <a:rPr lang="en-US" altLang="zh-CN" sz="2000" dirty="0">
                <a:ea typeface="仿宋" panose="02010609060101010101" pitchFamily="49" charset="-122"/>
              </a:rPr>
              <a:t>PowerPoint</a:t>
            </a:r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</a:rPr>
              <a:t>讲义等资料！</a:t>
            </a:r>
            <a:endParaRPr lang="en-US" altLang="zh-CN" sz="20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endParaRPr lang="en-US" altLang="zh-CN" sz="20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</a:rPr>
              <a:t>说明：本课程所使用的讲义，是在公开的讲义和学院其他老师的讲义上修改的。</a:t>
            </a:r>
          </a:p>
          <a:p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2566198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6878520" y="908720"/>
            <a:ext cx="154882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54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C00000"/>
                </a:solidFill>
                <a:effectLst/>
              </a:rPr>
              <a:t>No.2</a:t>
            </a:r>
            <a:endParaRPr lang="zh-CN" altLang="en-US" sz="54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rgbClr val="C00000"/>
              </a:solidFill>
              <a:effectLst/>
            </a:endParaRPr>
          </a:p>
        </p:txBody>
      </p:sp>
      <p:sp>
        <p:nvSpPr>
          <p:cNvPr id="47106" name="AutoShape 2" descr="screen shot of the TPL ap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0" y="6488668"/>
            <a:ext cx="824440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hlinkClick r:id="rId2"/>
              </a:rPr>
              <a:t>https://spectrum.ieee.org/top-programming-languages-2021</a:t>
            </a:r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10" name="矩形 9"/>
          <p:cNvSpPr/>
          <p:nvPr/>
        </p:nvSpPr>
        <p:spPr>
          <a:xfrm>
            <a:off x="35496" y="6053226"/>
            <a:ext cx="698477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b="1" dirty="0"/>
              <a:t>Top Programming Languages 2021 </a:t>
            </a:r>
            <a:r>
              <a:rPr lang="en-US" altLang="zh-CN" sz="2000" dirty="0"/>
              <a:t>by </a:t>
            </a:r>
            <a:r>
              <a:rPr lang="en-US" altLang="zh-CN" sz="2000" b="1" i="1" dirty="0"/>
              <a:t>IEEE Spectrum</a:t>
            </a:r>
            <a:endParaRPr lang="zh-CN" altLang="en-US" sz="2000" dirty="0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941488D9-C9C7-412A-AF73-5A2366193F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1720" y="404664"/>
            <a:ext cx="4830811" cy="5254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20685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6878520" y="908720"/>
            <a:ext cx="154882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54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C00000"/>
                </a:solidFill>
                <a:effectLst/>
              </a:rPr>
              <a:t>No.2</a:t>
            </a:r>
            <a:endParaRPr lang="zh-CN" altLang="en-US" sz="54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rgbClr val="C00000"/>
              </a:solidFill>
              <a:effectLst/>
            </a:endParaRPr>
          </a:p>
        </p:txBody>
      </p:sp>
      <p:sp>
        <p:nvSpPr>
          <p:cNvPr id="47106" name="AutoShape 2" descr="screen shot of the TPL ap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0" y="6488668"/>
            <a:ext cx="824440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hlinkClick r:id="rId2"/>
              </a:rPr>
              <a:t>https://spectrum.ieee.org/at-work/tech-careers/top-programming-language-2020</a:t>
            </a:r>
            <a:endParaRPr lang="zh-CN" altLang="en-US" dirty="0"/>
          </a:p>
        </p:txBody>
      </p:sp>
      <p:sp>
        <p:nvSpPr>
          <p:cNvPr id="10" name="矩形 9"/>
          <p:cNvSpPr/>
          <p:nvPr/>
        </p:nvSpPr>
        <p:spPr>
          <a:xfrm>
            <a:off x="35496" y="6053226"/>
            <a:ext cx="698477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b="1" dirty="0"/>
              <a:t>Top Programming Languages 2020 </a:t>
            </a:r>
            <a:r>
              <a:rPr lang="en-US" altLang="zh-CN" sz="2000" dirty="0"/>
              <a:t>by </a:t>
            </a:r>
            <a:r>
              <a:rPr lang="en-US" altLang="zh-CN" sz="2000" b="1" i="1" dirty="0"/>
              <a:t>IEEE Spectrum</a:t>
            </a:r>
            <a:endParaRPr lang="zh-CN" altLang="en-US" sz="20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70DEAAC-FDCB-4931-8A7D-6E17A051669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5479" y="427669"/>
            <a:ext cx="4613041" cy="5349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440469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/>
              <a:t>A Brief History of Java</a:t>
            </a:r>
            <a:endParaRPr lang="zh-CN" altLang="en-US" sz="32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altLang="zh-CN" sz="1800" dirty="0"/>
              <a:t>1991: A group of </a:t>
            </a:r>
            <a:r>
              <a:rPr lang="en-US" altLang="zh-CN" sz="1800" dirty="0">
                <a:solidFill>
                  <a:srgbClr val="FF0000"/>
                </a:solidFill>
              </a:rPr>
              <a:t>Sun Microsystems </a:t>
            </a:r>
            <a:r>
              <a:rPr lang="en-US" altLang="zh-CN" sz="1800" dirty="0"/>
              <a:t>engineers, led by Patrick </a:t>
            </a:r>
            <a:r>
              <a:rPr lang="en-US" altLang="zh-CN" sz="1800" dirty="0" err="1"/>
              <a:t>Naughton</a:t>
            </a:r>
            <a:r>
              <a:rPr lang="en-US" altLang="zh-CN" sz="1800" dirty="0"/>
              <a:t> and </a:t>
            </a:r>
            <a:r>
              <a:rPr lang="en-US" altLang="zh-CN" sz="1800" dirty="0">
                <a:solidFill>
                  <a:srgbClr val="FF0000"/>
                </a:solidFill>
              </a:rPr>
              <a:t>James Gosling</a:t>
            </a:r>
          </a:p>
          <a:p>
            <a:r>
              <a:rPr lang="en-US" altLang="zh-CN" sz="1800" dirty="0"/>
              <a:t>1995: SunWorld’95, the </a:t>
            </a:r>
            <a:r>
              <a:rPr lang="en-US" altLang="zh-CN" sz="1800" dirty="0" err="1"/>
              <a:t>HotJava</a:t>
            </a:r>
            <a:r>
              <a:rPr lang="en-US" altLang="zh-CN" sz="1800" dirty="0"/>
              <a:t> browser</a:t>
            </a:r>
          </a:p>
          <a:p>
            <a:r>
              <a:rPr lang="en-US" altLang="zh-CN" sz="1800" dirty="0"/>
              <a:t>1996: Java 1.0</a:t>
            </a:r>
          </a:p>
          <a:p>
            <a:r>
              <a:rPr lang="en-US" altLang="zh-CN" sz="1800" dirty="0"/>
              <a:t>…</a:t>
            </a:r>
          </a:p>
          <a:p>
            <a:r>
              <a:rPr lang="en-US" altLang="zh-CN" sz="1800" dirty="0"/>
              <a:t>2004: Java 5.0</a:t>
            </a:r>
          </a:p>
          <a:p>
            <a:r>
              <a:rPr lang="en-US" altLang="zh-CN" sz="1800" dirty="0"/>
              <a:t>2006: Java 6</a:t>
            </a:r>
          </a:p>
          <a:p>
            <a:r>
              <a:rPr lang="en-US" altLang="zh-CN" sz="1800" dirty="0"/>
              <a:t>2009-2010: Sun Microsystems was </a:t>
            </a:r>
            <a:r>
              <a:rPr lang="en-US" altLang="zh-CN" sz="1800" dirty="0">
                <a:solidFill>
                  <a:srgbClr val="FF0000"/>
                </a:solidFill>
              </a:rPr>
              <a:t>acquired by Oracle</a:t>
            </a:r>
          </a:p>
          <a:p>
            <a:r>
              <a:rPr lang="en-US" altLang="zh-CN" sz="1800" dirty="0"/>
              <a:t>2011: Java 7</a:t>
            </a:r>
          </a:p>
          <a:p>
            <a:r>
              <a:rPr lang="en-US" altLang="zh-CN" sz="1800" dirty="0"/>
              <a:t>2014: Java 8</a:t>
            </a:r>
          </a:p>
          <a:p>
            <a:r>
              <a:rPr lang="en-US" altLang="zh-CN" sz="1800" dirty="0"/>
              <a:t>2017: Java 9</a:t>
            </a:r>
          </a:p>
          <a:p>
            <a:r>
              <a:rPr lang="en-US" altLang="zh-CN" sz="1800" dirty="0">
                <a:solidFill>
                  <a:srgbClr val="FF0000"/>
                </a:solidFill>
              </a:rPr>
              <a:t>2018: Java 10, 11</a:t>
            </a:r>
          </a:p>
          <a:p>
            <a:r>
              <a:rPr lang="en-US" altLang="zh-CN" sz="1800" dirty="0">
                <a:solidFill>
                  <a:srgbClr val="FF0000"/>
                </a:solidFill>
              </a:rPr>
              <a:t>2019: Java 12,</a:t>
            </a:r>
            <a:r>
              <a:rPr lang="zh-CN" altLang="en-US" sz="1800" dirty="0">
                <a:solidFill>
                  <a:srgbClr val="FF0000"/>
                </a:solidFill>
              </a:rPr>
              <a:t> </a:t>
            </a:r>
            <a:r>
              <a:rPr lang="en-US" altLang="zh-CN" sz="1800" dirty="0">
                <a:solidFill>
                  <a:srgbClr val="FF0000"/>
                </a:solidFill>
              </a:rPr>
              <a:t>13</a:t>
            </a:r>
          </a:p>
          <a:p>
            <a:r>
              <a:rPr lang="en-US" altLang="zh-CN" sz="1800" dirty="0">
                <a:solidFill>
                  <a:srgbClr val="FF0000"/>
                </a:solidFill>
              </a:rPr>
              <a:t>2020: Java 14,</a:t>
            </a:r>
            <a:r>
              <a:rPr lang="zh-CN" altLang="en-US" sz="1800" dirty="0">
                <a:solidFill>
                  <a:srgbClr val="FF0000"/>
                </a:solidFill>
              </a:rPr>
              <a:t> </a:t>
            </a:r>
            <a:r>
              <a:rPr lang="en-US" altLang="zh-CN" sz="1800" dirty="0">
                <a:solidFill>
                  <a:srgbClr val="FF0000"/>
                </a:solidFill>
              </a:rPr>
              <a:t>15</a:t>
            </a:r>
          </a:p>
          <a:p>
            <a:r>
              <a:rPr lang="en-US" altLang="zh-CN" sz="1800" dirty="0">
                <a:solidFill>
                  <a:srgbClr val="FF0000"/>
                </a:solidFill>
              </a:rPr>
              <a:t>2021: Java 16, 17</a:t>
            </a:r>
          </a:p>
        </p:txBody>
      </p:sp>
      <p:sp>
        <p:nvSpPr>
          <p:cNvPr id="5" name="矩形 4"/>
          <p:cNvSpPr/>
          <p:nvPr/>
        </p:nvSpPr>
        <p:spPr>
          <a:xfrm>
            <a:off x="4139952" y="6444044"/>
            <a:ext cx="496855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hlinkClick r:id="rId2"/>
              </a:rPr>
              <a:t>http://en.wikipedia.org/wiki/Java_version_history</a:t>
            </a:r>
            <a:r>
              <a:rPr lang="en-US" altLang="zh-C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120297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/>
              <a:t>Java As A Programming Platform</a:t>
            </a:r>
            <a:endParaRPr lang="zh-CN" altLang="en-US" sz="32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000" dirty="0"/>
              <a:t>Java is a whole </a:t>
            </a:r>
            <a:r>
              <a:rPr lang="en-US" altLang="zh-CN" sz="2000" b="1" dirty="0">
                <a:solidFill>
                  <a:srgbClr val="FF0000"/>
                </a:solidFill>
              </a:rPr>
              <a:t>platform (</a:t>
            </a:r>
            <a:r>
              <a:rPr lang="zh-CN" altLang="en-US" sz="2000" b="1" dirty="0">
                <a:solidFill>
                  <a:srgbClr val="FF0000"/>
                </a:solidFill>
              </a:rPr>
              <a:t>平台</a:t>
            </a:r>
            <a:r>
              <a:rPr lang="en-US" altLang="zh-CN" sz="2000" b="1" dirty="0">
                <a:solidFill>
                  <a:srgbClr val="FF0000"/>
                </a:solidFill>
              </a:rPr>
              <a:t>)</a:t>
            </a:r>
            <a:r>
              <a:rPr lang="en-US" altLang="zh-CN" sz="2000" dirty="0"/>
              <a:t>:</a:t>
            </a:r>
          </a:p>
          <a:p>
            <a:pPr lvl="1"/>
            <a:r>
              <a:rPr lang="en-US" altLang="zh-CN" sz="2000" dirty="0"/>
              <a:t>a good </a:t>
            </a:r>
            <a:r>
              <a:rPr lang="en-US" altLang="zh-CN" sz="2000" dirty="0">
                <a:solidFill>
                  <a:srgbClr val="FF0000"/>
                </a:solidFill>
              </a:rPr>
              <a:t>language</a:t>
            </a:r>
            <a:r>
              <a:rPr lang="en-US" altLang="zh-CN" sz="2000" dirty="0"/>
              <a:t> (e.g., pleasant syntax and comprehensive semantics)</a:t>
            </a:r>
          </a:p>
          <a:p>
            <a:pPr lvl="1"/>
            <a:endParaRPr lang="en-US" altLang="zh-CN" sz="2000" dirty="0"/>
          </a:p>
          <a:p>
            <a:pPr lvl="1"/>
            <a:r>
              <a:rPr lang="en-US" altLang="zh-CN" sz="2000" dirty="0"/>
              <a:t>a huge </a:t>
            </a:r>
            <a:r>
              <a:rPr lang="en-US" altLang="zh-CN" sz="2000" dirty="0">
                <a:solidFill>
                  <a:srgbClr val="FF0000"/>
                </a:solidFill>
              </a:rPr>
              <a:t>library</a:t>
            </a:r>
            <a:r>
              <a:rPr lang="en-US" altLang="zh-CN" sz="2000" dirty="0"/>
              <a:t> (e.g., fancy graphics, networking and database access, data mining package, recommender systems, etc.)</a:t>
            </a:r>
          </a:p>
          <a:p>
            <a:pPr lvl="1"/>
            <a:endParaRPr lang="en-US" altLang="zh-CN" sz="2000" dirty="0"/>
          </a:p>
          <a:p>
            <a:pPr lvl="1"/>
            <a:r>
              <a:rPr lang="en-US" altLang="zh-CN" sz="2000" dirty="0"/>
              <a:t>a high-quality execution </a:t>
            </a:r>
            <a:r>
              <a:rPr lang="en-US" altLang="zh-CN" sz="2000" dirty="0">
                <a:solidFill>
                  <a:srgbClr val="FF0000"/>
                </a:solidFill>
              </a:rPr>
              <a:t>environment</a:t>
            </a:r>
            <a:r>
              <a:rPr lang="en-US" altLang="zh-CN" sz="2000" dirty="0"/>
              <a:t> that provides services such as security, portability across operating systems, and automatic garbage collection</a:t>
            </a:r>
          </a:p>
          <a:p>
            <a:endParaRPr lang="zh-CN" altLang="en-US" sz="2000" dirty="0"/>
          </a:p>
        </p:txBody>
      </p:sp>
      <p:sp>
        <p:nvSpPr>
          <p:cNvPr id="5" name="矩形 4"/>
          <p:cNvSpPr/>
          <p:nvPr/>
        </p:nvSpPr>
        <p:spPr>
          <a:xfrm>
            <a:off x="5616624" y="6444044"/>
            <a:ext cx="349188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i="1" dirty="0"/>
              <a:t>Core Java Volume I--Fundamentals</a:t>
            </a:r>
            <a:r>
              <a:rPr lang="zh-CN" altLang="en-US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81276374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/>
              <a:t>Buzzwords (1/3) </a:t>
            </a:r>
            <a:endParaRPr lang="zh-CN" altLang="en-US" sz="32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000" b="1" dirty="0">
                <a:solidFill>
                  <a:srgbClr val="0000FF"/>
                </a:solidFill>
              </a:rPr>
              <a:t>Object oriented</a:t>
            </a:r>
            <a:r>
              <a:rPr lang="en-US" altLang="zh-CN" sz="2000" dirty="0"/>
              <a:t>: similar to that of </a:t>
            </a:r>
            <a:r>
              <a:rPr lang="en-US" altLang="zh-CN" sz="2000" dirty="0">
                <a:solidFill>
                  <a:srgbClr val="FF0000"/>
                </a:solidFill>
              </a:rPr>
              <a:t>C++</a:t>
            </a:r>
            <a:r>
              <a:rPr lang="en-US" altLang="zh-CN" sz="2000" dirty="0"/>
              <a:t>. </a:t>
            </a:r>
          </a:p>
          <a:p>
            <a:endParaRPr lang="en-US" altLang="zh-CN" sz="2000" dirty="0"/>
          </a:p>
          <a:p>
            <a:r>
              <a:rPr lang="en-US" altLang="zh-CN" sz="2000" b="1" dirty="0">
                <a:solidFill>
                  <a:srgbClr val="0000FF"/>
                </a:solidFill>
              </a:rPr>
              <a:t>Simple</a:t>
            </a:r>
            <a:r>
              <a:rPr lang="en-US" altLang="zh-CN" sz="2000" dirty="0"/>
              <a:t>: e.g., there is </a:t>
            </a:r>
            <a:r>
              <a:rPr lang="en-US" altLang="zh-CN" sz="2000" dirty="0">
                <a:solidFill>
                  <a:srgbClr val="FF0000"/>
                </a:solidFill>
              </a:rPr>
              <a:t>no pointer arithmetic (</a:t>
            </a:r>
            <a:r>
              <a:rPr lang="zh-CN" altLang="en-US" sz="2000" dirty="0">
                <a:solidFill>
                  <a:srgbClr val="FF0000"/>
                </a:solidFill>
              </a:rPr>
              <a:t>指针运算</a:t>
            </a:r>
            <a:r>
              <a:rPr lang="en-US" altLang="zh-CN" sz="2000" dirty="0">
                <a:solidFill>
                  <a:srgbClr val="FF0000"/>
                </a:solidFill>
              </a:rPr>
              <a:t>)</a:t>
            </a:r>
            <a:r>
              <a:rPr lang="en-US" altLang="zh-CN" sz="2000" dirty="0"/>
              <a:t>.</a:t>
            </a:r>
          </a:p>
          <a:p>
            <a:endParaRPr lang="en-US" altLang="zh-CN" sz="2000" dirty="0"/>
          </a:p>
          <a:p>
            <a:r>
              <a:rPr lang="en-US" altLang="zh-CN" sz="2000" b="1" dirty="0">
                <a:solidFill>
                  <a:srgbClr val="0000FF"/>
                </a:solidFill>
              </a:rPr>
              <a:t>Network-savvy</a:t>
            </a:r>
            <a:r>
              <a:rPr lang="en-US" altLang="zh-CN" sz="2000" dirty="0"/>
              <a:t>:  e.g., access objects across the Internet via URLs is similar to access </a:t>
            </a:r>
            <a:r>
              <a:rPr lang="en-US" altLang="zh-CN" sz="2000" dirty="0">
                <a:solidFill>
                  <a:srgbClr val="FF0000"/>
                </a:solidFill>
              </a:rPr>
              <a:t>a local file system</a:t>
            </a:r>
            <a:r>
              <a:rPr lang="en-US" altLang="zh-CN" sz="2000" dirty="0"/>
              <a:t>.</a:t>
            </a:r>
          </a:p>
          <a:p>
            <a:endParaRPr lang="en-US" altLang="zh-CN" sz="2000" dirty="0"/>
          </a:p>
          <a:p>
            <a:r>
              <a:rPr lang="en-US" altLang="zh-CN" sz="2000" b="1" dirty="0">
                <a:solidFill>
                  <a:srgbClr val="0000FF"/>
                </a:solidFill>
              </a:rPr>
              <a:t>Multithreaded</a:t>
            </a:r>
            <a:r>
              <a:rPr lang="en-US" altLang="zh-CN" sz="2000" dirty="0"/>
              <a:t>: e.g., </a:t>
            </a:r>
            <a:r>
              <a:rPr lang="en-US" altLang="zh-CN" sz="2000" dirty="0">
                <a:solidFill>
                  <a:srgbClr val="FF0000"/>
                </a:solidFill>
              </a:rPr>
              <a:t>multithreading</a:t>
            </a:r>
            <a:r>
              <a:rPr lang="en-US" altLang="zh-CN" sz="2000" dirty="0"/>
              <a:t> is convenient.</a:t>
            </a:r>
          </a:p>
        </p:txBody>
      </p:sp>
      <p:sp>
        <p:nvSpPr>
          <p:cNvPr id="5" name="矩形 4"/>
          <p:cNvSpPr/>
          <p:nvPr/>
        </p:nvSpPr>
        <p:spPr>
          <a:xfrm>
            <a:off x="5616624" y="6444044"/>
            <a:ext cx="349188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i="1" dirty="0"/>
              <a:t>Core Java Volume I--Fundamentals</a:t>
            </a:r>
            <a:r>
              <a:rPr lang="zh-CN" altLang="en-US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69042516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/>
              <a:t>Buzzwords (2/3) </a:t>
            </a:r>
            <a:endParaRPr lang="zh-CN" altLang="en-US" sz="32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000" b="1" dirty="0">
                <a:solidFill>
                  <a:srgbClr val="0000FF"/>
                </a:solidFill>
              </a:rPr>
              <a:t>Robust</a:t>
            </a:r>
            <a:r>
              <a:rPr lang="en-US" altLang="zh-CN" sz="2000" dirty="0"/>
              <a:t>: Java has a pointer model that </a:t>
            </a:r>
            <a:r>
              <a:rPr lang="en-US" altLang="zh-CN" sz="2000" dirty="0">
                <a:solidFill>
                  <a:srgbClr val="FF0000"/>
                </a:solidFill>
              </a:rPr>
              <a:t>eliminates the possibility of overwriting memory and corrupting data</a:t>
            </a:r>
            <a:r>
              <a:rPr lang="en-US" altLang="zh-CN" sz="2000" dirty="0"/>
              <a:t>.</a:t>
            </a:r>
          </a:p>
          <a:p>
            <a:endParaRPr lang="en-US" altLang="zh-CN" sz="2000" dirty="0"/>
          </a:p>
          <a:p>
            <a:r>
              <a:rPr lang="en-US" altLang="zh-CN" sz="2000" b="1" dirty="0">
                <a:solidFill>
                  <a:srgbClr val="0000FF"/>
                </a:solidFill>
              </a:rPr>
              <a:t>Secure</a:t>
            </a:r>
            <a:r>
              <a:rPr lang="en-US" altLang="zh-CN" sz="2000" dirty="0"/>
              <a:t>: Java enables the construction of </a:t>
            </a:r>
            <a:r>
              <a:rPr lang="en-US" altLang="zh-CN" sz="2000" dirty="0">
                <a:solidFill>
                  <a:srgbClr val="FF0000"/>
                </a:solidFill>
              </a:rPr>
              <a:t>virus-free</a:t>
            </a:r>
            <a:r>
              <a:rPr lang="en-US" altLang="zh-CN" sz="2000" dirty="0"/>
              <a:t>, </a:t>
            </a:r>
            <a:r>
              <a:rPr lang="en-US" altLang="zh-CN" sz="2000" dirty="0">
                <a:solidFill>
                  <a:srgbClr val="FF0000"/>
                </a:solidFill>
              </a:rPr>
              <a:t>tamper (</a:t>
            </a:r>
            <a:r>
              <a:rPr lang="zh-CN" altLang="en-US" sz="2000" dirty="0">
                <a:solidFill>
                  <a:srgbClr val="FF0000"/>
                </a:solidFill>
              </a:rPr>
              <a:t>篡改</a:t>
            </a:r>
            <a:r>
              <a:rPr lang="en-US" altLang="zh-CN" sz="2000" dirty="0">
                <a:solidFill>
                  <a:srgbClr val="FF0000"/>
                </a:solidFill>
              </a:rPr>
              <a:t>)-free </a:t>
            </a:r>
            <a:r>
              <a:rPr lang="en-US" altLang="zh-CN" sz="2000" dirty="0"/>
              <a:t>systems, which avoids attacks.</a:t>
            </a:r>
          </a:p>
          <a:p>
            <a:endParaRPr lang="en-US" altLang="zh-CN" sz="2000" dirty="0"/>
          </a:p>
          <a:p>
            <a:r>
              <a:rPr lang="en-US" altLang="zh-CN" sz="2000" b="1" dirty="0">
                <a:solidFill>
                  <a:srgbClr val="0000FF"/>
                </a:solidFill>
              </a:rPr>
              <a:t>Dynamic</a:t>
            </a:r>
            <a:r>
              <a:rPr lang="en-US" altLang="zh-CN" sz="2000" dirty="0"/>
              <a:t>: e.g., finding out the </a:t>
            </a:r>
            <a:r>
              <a:rPr lang="en-US" altLang="zh-CN" sz="2000" dirty="0">
                <a:solidFill>
                  <a:srgbClr val="FF0000"/>
                </a:solidFill>
              </a:rPr>
              <a:t>runtime information </a:t>
            </a:r>
            <a:r>
              <a:rPr lang="en-US" altLang="zh-CN" sz="2000" dirty="0"/>
              <a:t>is straightforward.</a:t>
            </a:r>
          </a:p>
        </p:txBody>
      </p:sp>
      <p:sp>
        <p:nvSpPr>
          <p:cNvPr id="5" name="矩形 4"/>
          <p:cNvSpPr/>
          <p:nvPr/>
        </p:nvSpPr>
        <p:spPr>
          <a:xfrm>
            <a:off x="5616624" y="6444044"/>
            <a:ext cx="349188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i="1" dirty="0"/>
              <a:t>Core Java Volume I--Fundamentals</a:t>
            </a:r>
            <a:r>
              <a:rPr lang="zh-CN" altLang="en-US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07314467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/>
              <a:t>Buzzwords (3/3) </a:t>
            </a:r>
            <a:endParaRPr lang="zh-CN" altLang="en-US" sz="32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000" b="1" dirty="0">
                <a:solidFill>
                  <a:srgbClr val="0000FF"/>
                </a:solidFill>
              </a:rPr>
              <a:t>Portable</a:t>
            </a:r>
            <a:r>
              <a:rPr lang="en-US" altLang="zh-CN" sz="2000" dirty="0"/>
              <a:t>:  e.g., </a:t>
            </a:r>
            <a:r>
              <a:rPr lang="en-US" altLang="zh-CN" sz="2000" dirty="0">
                <a:solidFill>
                  <a:srgbClr val="FF0000"/>
                </a:solidFill>
              </a:rPr>
              <a:t>Strings</a:t>
            </a:r>
            <a:r>
              <a:rPr lang="en-US" altLang="zh-CN" sz="2000" dirty="0"/>
              <a:t> are saved in a standard Unicode format.</a:t>
            </a:r>
          </a:p>
          <a:p>
            <a:endParaRPr lang="en-US" altLang="zh-CN" sz="2000" dirty="0"/>
          </a:p>
          <a:p>
            <a:r>
              <a:rPr lang="en-US" altLang="zh-CN" sz="2000" b="1" dirty="0">
                <a:solidFill>
                  <a:srgbClr val="0000FF"/>
                </a:solidFill>
              </a:rPr>
              <a:t>Architectural neutral</a:t>
            </a:r>
            <a:r>
              <a:rPr lang="en-US" altLang="zh-CN" sz="2000" dirty="0"/>
              <a:t>: the </a:t>
            </a:r>
            <a:r>
              <a:rPr lang="en-US" altLang="zh-CN" sz="2000" dirty="0">
                <a:solidFill>
                  <a:srgbClr val="FF0000"/>
                </a:solidFill>
              </a:rPr>
              <a:t>java compiler (</a:t>
            </a:r>
            <a:r>
              <a:rPr lang="zh-CN" altLang="en-US" sz="2000" dirty="0">
                <a:solidFill>
                  <a:srgbClr val="FF0000"/>
                </a:solidFill>
              </a:rPr>
              <a:t>编译器</a:t>
            </a:r>
            <a:r>
              <a:rPr lang="en-US" altLang="zh-CN" sz="2000" dirty="0">
                <a:solidFill>
                  <a:srgbClr val="FF0000"/>
                </a:solidFill>
              </a:rPr>
              <a:t>) </a:t>
            </a:r>
            <a:r>
              <a:rPr lang="en-US" altLang="zh-CN" sz="2000" dirty="0"/>
              <a:t>generates an architecture-neutral object file format – bytecodes (</a:t>
            </a:r>
            <a:r>
              <a:rPr lang="zh-CN" altLang="en-US" sz="2000" dirty="0"/>
              <a:t>字节码</a:t>
            </a:r>
            <a:r>
              <a:rPr lang="en-US" altLang="zh-CN" sz="2000" dirty="0"/>
              <a:t>).</a:t>
            </a:r>
          </a:p>
          <a:p>
            <a:endParaRPr lang="en-US" altLang="zh-CN" sz="2000" dirty="0"/>
          </a:p>
          <a:p>
            <a:r>
              <a:rPr lang="en-US" altLang="zh-CN" sz="2000" b="1" dirty="0">
                <a:solidFill>
                  <a:srgbClr val="0000FF"/>
                </a:solidFill>
              </a:rPr>
              <a:t>Interpreted</a:t>
            </a:r>
            <a:r>
              <a:rPr lang="en-US" altLang="zh-CN" sz="2000" dirty="0"/>
              <a:t>: the </a:t>
            </a:r>
            <a:r>
              <a:rPr lang="en-US" altLang="zh-CN" sz="2000" dirty="0">
                <a:solidFill>
                  <a:srgbClr val="FF0000"/>
                </a:solidFill>
              </a:rPr>
              <a:t>java interpreter (</a:t>
            </a:r>
            <a:r>
              <a:rPr lang="zh-CN" altLang="en-US" sz="2000" dirty="0">
                <a:solidFill>
                  <a:srgbClr val="FF0000"/>
                </a:solidFill>
              </a:rPr>
              <a:t>解释器</a:t>
            </a:r>
            <a:r>
              <a:rPr lang="en-US" altLang="zh-CN" sz="2000" dirty="0">
                <a:solidFill>
                  <a:srgbClr val="FF0000"/>
                </a:solidFill>
              </a:rPr>
              <a:t>) </a:t>
            </a:r>
            <a:r>
              <a:rPr lang="en-US" altLang="zh-CN" sz="2000" dirty="0"/>
              <a:t>can </a:t>
            </a:r>
            <a:r>
              <a:rPr lang="en-US" altLang="zh-CN" sz="2000" b="1" dirty="0">
                <a:solidFill>
                  <a:srgbClr val="FF0000"/>
                </a:solidFill>
              </a:rPr>
              <a:t>execute Java bytecodes  </a:t>
            </a:r>
            <a:r>
              <a:rPr lang="en-US" altLang="zh-CN" sz="2000" dirty="0"/>
              <a:t>directly </a:t>
            </a:r>
            <a:r>
              <a:rPr lang="en-US" altLang="zh-CN" sz="2000" b="1" dirty="0">
                <a:solidFill>
                  <a:srgbClr val="FF0000"/>
                </a:solidFill>
              </a:rPr>
              <a:t>on any machine </a:t>
            </a:r>
            <a:r>
              <a:rPr lang="en-US" altLang="zh-CN" sz="2000" dirty="0"/>
              <a:t>to which the interpreter has been ported.</a:t>
            </a:r>
          </a:p>
          <a:p>
            <a:endParaRPr lang="en-US" altLang="zh-CN" sz="2000" dirty="0"/>
          </a:p>
          <a:p>
            <a:r>
              <a:rPr lang="en-US" altLang="zh-CN" sz="2000" b="1" dirty="0">
                <a:solidFill>
                  <a:srgbClr val="0000FF"/>
                </a:solidFill>
              </a:rPr>
              <a:t>High performance</a:t>
            </a:r>
            <a:r>
              <a:rPr lang="en-US" altLang="zh-CN" sz="2000" dirty="0"/>
              <a:t>: a </a:t>
            </a:r>
            <a:r>
              <a:rPr lang="en-US" altLang="zh-CN" sz="2000" dirty="0">
                <a:solidFill>
                  <a:srgbClr val="FF0000"/>
                </a:solidFill>
              </a:rPr>
              <a:t>just-in-time compiler </a:t>
            </a:r>
            <a:r>
              <a:rPr lang="en-US" altLang="zh-CN" sz="2000" dirty="0"/>
              <a:t>can monitor which code is executed frequently and optimize just that code for speed.</a:t>
            </a:r>
            <a:endParaRPr lang="zh-CN" altLang="en-US" sz="2000" dirty="0"/>
          </a:p>
        </p:txBody>
      </p:sp>
      <p:sp>
        <p:nvSpPr>
          <p:cNvPr id="5" name="矩形 4"/>
          <p:cNvSpPr/>
          <p:nvPr/>
        </p:nvSpPr>
        <p:spPr>
          <a:xfrm>
            <a:off x="5616624" y="6444044"/>
            <a:ext cx="349188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i="1" dirty="0"/>
              <a:t>Core Java Volume I--Fundamentals</a:t>
            </a:r>
            <a:r>
              <a:rPr lang="zh-CN" altLang="en-US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49366249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/>
              <a:t>More about Java</a:t>
            </a:r>
            <a:endParaRPr lang="zh-CN" altLang="en-US" sz="32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000" dirty="0">
                <a:hlinkClick r:id="rId2"/>
              </a:rPr>
              <a:t>http://en.wikipedia.org/wiki/Java_(programming_language)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en-US" altLang="zh-CN" sz="2000" dirty="0"/>
              <a:t>Java is a computer programming language that is concurrent, </a:t>
            </a:r>
            <a:r>
              <a:rPr lang="en-US" altLang="zh-CN" sz="2000" dirty="0">
                <a:solidFill>
                  <a:srgbClr val="FF0000"/>
                </a:solidFill>
              </a:rPr>
              <a:t>class-based</a:t>
            </a:r>
            <a:r>
              <a:rPr lang="en-US" altLang="zh-CN" sz="2000" dirty="0"/>
              <a:t>, </a:t>
            </a:r>
            <a:r>
              <a:rPr lang="en-US" altLang="zh-CN" sz="2000" dirty="0">
                <a:solidFill>
                  <a:srgbClr val="FF0000"/>
                </a:solidFill>
              </a:rPr>
              <a:t>object-oriented</a:t>
            </a:r>
            <a:r>
              <a:rPr lang="en-US" altLang="zh-CN" sz="2000" dirty="0"/>
              <a:t>, and specifically designed to have as </a:t>
            </a:r>
            <a:r>
              <a:rPr lang="en-US" altLang="zh-CN" sz="2000" dirty="0">
                <a:solidFill>
                  <a:srgbClr val="0000FF"/>
                </a:solidFill>
              </a:rPr>
              <a:t>few implementation dependencies (</a:t>
            </a:r>
            <a:r>
              <a:rPr lang="zh-CN" altLang="en-US" sz="2000" dirty="0">
                <a:solidFill>
                  <a:srgbClr val="0000FF"/>
                </a:solidFill>
              </a:rPr>
              <a:t>依赖性</a:t>
            </a:r>
            <a:r>
              <a:rPr lang="en-US" altLang="zh-CN" sz="2000" dirty="0">
                <a:solidFill>
                  <a:srgbClr val="0000FF"/>
                </a:solidFill>
              </a:rPr>
              <a:t>)</a:t>
            </a:r>
            <a:r>
              <a:rPr lang="en-US" altLang="zh-CN" sz="2000" dirty="0"/>
              <a:t> as possible. It is intended to let application developers "</a:t>
            </a:r>
            <a:r>
              <a:rPr lang="en-US" altLang="zh-CN" sz="2000" dirty="0">
                <a:solidFill>
                  <a:srgbClr val="FF0000"/>
                </a:solidFill>
              </a:rPr>
              <a:t>write once, run anywhere</a:t>
            </a:r>
            <a:r>
              <a:rPr lang="en-US" altLang="zh-CN" sz="2000" dirty="0"/>
              <a:t>" (WORA), meaning that code that runs on one platform does not need to be recompiled to run on another. </a:t>
            </a:r>
            <a:endParaRPr lang="zh-CN" altLang="en-US" sz="2000" dirty="0"/>
          </a:p>
        </p:txBody>
      </p:sp>
      <p:pic>
        <p:nvPicPr>
          <p:cNvPr id="1026" name="Picture 2" descr="http://upload.wikimedia.org/wikipedia/commons/thumb/4/40/Wave.svg/170px-Wave.svg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9729" y="4102921"/>
            <a:ext cx="838482" cy="15092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文本框 3"/>
          <p:cNvSpPr txBox="1"/>
          <p:nvPr/>
        </p:nvSpPr>
        <p:spPr>
          <a:xfrm>
            <a:off x="5526232" y="5986319"/>
            <a:ext cx="30062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Duke (</a:t>
            </a:r>
            <a:r>
              <a:rPr lang="zh-CN" altLang="en-US" dirty="0"/>
              <a:t>公爵</a:t>
            </a:r>
            <a:r>
              <a:rPr lang="en-US" altLang="zh-CN" dirty="0"/>
              <a:t>), Mascot (</a:t>
            </a:r>
            <a:r>
              <a:rPr lang="zh-CN" altLang="en-US" dirty="0"/>
              <a:t>吉祥物</a:t>
            </a:r>
            <a:r>
              <a:rPr lang="en-US" altLang="zh-CN" dirty="0"/>
              <a:t>)</a:t>
            </a:r>
            <a:endParaRPr lang="zh-CN" altLang="en-US" dirty="0"/>
          </a:p>
        </p:txBody>
      </p:sp>
      <p:pic>
        <p:nvPicPr>
          <p:cNvPr id="6" name="Picture 2" descr="http://upload.wikimedia.org/wikipedia/commons/thumb/a/a4/Java_logo_and_wordmark.svg/300px-Java_logo_and_wordmark.svg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8286" y="4005064"/>
            <a:ext cx="955964" cy="1752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文本框 6"/>
          <p:cNvSpPr txBox="1"/>
          <p:nvPr/>
        </p:nvSpPr>
        <p:spPr>
          <a:xfrm>
            <a:off x="4239514" y="5934467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Logo</a:t>
            </a:r>
            <a:endParaRPr lang="zh-CN" altLang="en-US" dirty="0"/>
          </a:p>
        </p:txBody>
      </p:sp>
      <p:pic>
        <p:nvPicPr>
          <p:cNvPr id="1028" name="Picture 4" descr="http://upload.wikimedia.org/wikipedia/commons/thumb/1/14/James_Gosling_2008.jpg/220px-James_Gosling_2008.jp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0689" y="4057643"/>
            <a:ext cx="1592585" cy="1599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文本框 8"/>
          <p:cNvSpPr txBox="1"/>
          <p:nvPr/>
        </p:nvSpPr>
        <p:spPr>
          <a:xfrm>
            <a:off x="1187624" y="5766072"/>
            <a:ext cx="16187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James Gosling, </a:t>
            </a:r>
          </a:p>
          <a:p>
            <a:r>
              <a:rPr lang="en-US" altLang="zh-CN" dirty="0"/>
              <a:t>creator of Java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565431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spDef>
  </a:objectDefaults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3089</TotalTime>
  <Words>2088</Words>
  <Application>Microsoft Office PowerPoint</Application>
  <PresentationFormat>全屏显示(4:3)</PresentationFormat>
  <Paragraphs>257</Paragraphs>
  <Slides>28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28</vt:i4>
      </vt:variant>
    </vt:vector>
  </HeadingPairs>
  <TitlesOfParts>
    <vt:vector size="33" baseType="lpstr">
      <vt:lpstr>仿宋</vt:lpstr>
      <vt:lpstr>Arial</vt:lpstr>
      <vt:lpstr>Calibri</vt:lpstr>
      <vt:lpstr>Office Theme</vt:lpstr>
      <vt:lpstr>1_Office Theme</vt:lpstr>
      <vt:lpstr>JAVA程序设计</vt:lpstr>
      <vt:lpstr>教师信息</vt:lpstr>
      <vt:lpstr>课程信息（周五下午班）</vt:lpstr>
      <vt:lpstr>课程信息（周五晚上班）</vt:lpstr>
      <vt:lpstr>教材(1/5)</vt:lpstr>
      <vt:lpstr>教材(2/5)</vt:lpstr>
      <vt:lpstr>教材(3/5)</vt:lpstr>
      <vt:lpstr>教材(4/5)</vt:lpstr>
      <vt:lpstr>教材(5/5)</vt:lpstr>
      <vt:lpstr>几个基本问题</vt:lpstr>
      <vt:lpstr>一个更有挑战性的问题</vt:lpstr>
      <vt:lpstr>线下课堂安排</vt:lpstr>
      <vt:lpstr>线下课堂安排</vt:lpstr>
      <vt:lpstr>”Introduction to Java Programming (10th/11th/12th Edition)”</vt:lpstr>
      <vt:lpstr>”Introduction to Java Programming (10th/11th/12th Edition)”</vt:lpstr>
      <vt:lpstr>”Introduction to Java Programming (10th/11th/12th Edition)”</vt:lpstr>
      <vt:lpstr>”Introduction to Java Programming (10th/11th/12th Edition)”</vt:lpstr>
      <vt:lpstr>”Introduction to Java Programming  (10th Edition)”</vt:lpstr>
      <vt:lpstr>成绩评定</vt:lpstr>
      <vt:lpstr>特别说明</vt:lpstr>
      <vt:lpstr>PowerPoint 演示文稿</vt:lpstr>
      <vt:lpstr>PowerPoint 演示文稿</vt:lpstr>
      <vt:lpstr>A Brief History of Java</vt:lpstr>
      <vt:lpstr>Java As A Programming Platform</vt:lpstr>
      <vt:lpstr>Buzzwords (1/3) </vt:lpstr>
      <vt:lpstr>Buzzwords (2/3) </vt:lpstr>
      <vt:lpstr>Buzzwords (3/3) </vt:lpstr>
      <vt:lpstr>More about Java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Weike Pan</dc:creator>
  <cp:lastModifiedBy>Pan Weike</cp:lastModifiedBy>
  <cp:revision>656</cp:revision>
  <dcterms:created xsi:type="dcterms:W3CDTF">2006-08-16T00:00:00Z</dcterms:created>
  <dcterms:modified xsi:type="dcterms:W3CDTF">2021-09-10T16:51:23Z</dcterms:modified>
</cp:coreProperties>
</file>